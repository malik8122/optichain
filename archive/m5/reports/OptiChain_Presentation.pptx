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48995b-5853-51ca-c917-575ae7e1915f}">
          <p14:sldIdLst>
            <p14:sldId id="256"/>
            <p14:sldId id="257"/>
            <p14:sldId id="258"/>
          </p14:sldIdLst>
        </p14:section>
        <p14:section name="Data &amp; demand" id="{9eb7cf4c-7f0d-bff8-67d7-afe39d5b7695}">
          <p14:sldIdLst>
            <p14:sldId id="259"/>
            <p14:sldId id="260"/>
          </p14:sldIdLst>
        </p14:section>
        <p14:section name="Forecasting" id="{82c139e4-49b6-3326-3820-212cd0dcf2c0}">
          <p14:sldIdLst>
            <p14:sldId id="261"/>
            <p14:sldId id="262"/>
            <p14:sldId id="263"/>
            <p14:sldId id="264"/>
          </p14:sldIdLst>
        </p14:section>
        <p14:section name="Inventory" id="{71c907bc-97eb-87e8-e749-43862119449a}">
          <p14:sldIdLst>
            <p14:sldId id="265"/>
            <p14:sldId id="266"/>
            <p14:sldId id="267"/>
          </p14:sldIdLst>
        </p14:section>
        <p14:section name="Validation" id="{b61f451c-7619-7923-1389-e112976199bc}">
          <p14:sldIdLst>
            <p14:sldId id="268"/>
            <p14:sldId id="269"/>
          </p14:sldIdLst>
        </p14:section>
        <p14:section name="Conclusion" id="{6fe917cf-424a-6385-b33a-2218d748507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mn-lt"/>
              </a:defRPr>
            </a:pPr>
            <a:r>
              <a:rPr sz="1300" b="0" i="0" u="none" strike="noStrike">
                <a:solidFill>
                  <a:srgbClr val="1E2761"/>
                </a:solidFill>
                <a:latin typeface="+mn-lt"/>
              </a:rPr>
              <a:t>Mean RMSSE across 8 products (lower is better)</a:t>
            </a:r>
          </a:p>
        </c:rich>
      </c:tx>
      <c:layout/>
      <c:overlay val="0"/>
    </c:title>
    <c:autoTitleDeleted val="0"/>
    <c:plotArea>
      <c:layout/>
      <c:barChart>
        <c:barDir val="bar"/>
        <c:grouping val="clustered"/>
        <c:varyColors val="0"/>
        <c:ser>
          <c:idx val="0"/>
          <c:order val="0"/>
          <c:tx>
            <c:strRef>
              <c:f>Sheet1!$B$1</c:f>
              <c:strCache>
                <c:ptCount val="1"/>
                <c:pt idx="0">
                  <c:v>Backtest (4 folds)</c:v>
                </c:pt>
              </c:strCache>
            </c:strRef>
          </c:tx>
          <c:spPr>
            <a:solidFill>
              <a:srgbClr val="2A78D6"/>
            </a:solidFill>
            <a:effectLst/>
          </c:spPr>
          <c:invertIfNegative val="0"/>
          <c:dLbls>
            <c:numFmt formatCode="0.00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Sheet1!$A$2:$A$8</c:f>
              <c:multiLvlStrCache>
                <c:ptCount val="7"/>
                <c:lvl>
                  <c:pt idx="0">
                    <c:v>ETS</c:v>
                  </c:pt>
                  <c:pt idx="1">
                    <c:v>SARIMA</c:v>
                  </c:pt>
                  <c:pt idx="2">
                    <c:v>ARIMA</c:v>
                  </c:pt>
                  <c:pt idx="3">
                    <c:v>Croston-SBA</c:v>
                  </c:pt>
                  <c:pt idx="4">
                    <c:v>28-day average</c:v>
                  </c:pt>
                  <c:pt idx="5">
                    <c:v>Seasonal naive</c:v>
                  </c:pt>
                  <c:pt idx="6">
                    <c:v>Naive</c:v>
                  </c:pt>
                </c:lvl>
              </c:multiLvlStrCache>
            </c:multiLvlStrRef>
          </c:cat>
          <c:val>
            <c:numRef>
              <c:f>Sheet1!$B$2:$B$8</c:f>
              <c:numCache>
                <c:formatCode>General</c:formatCode>
                <c:ptCount val="7"/>
                <c:pt idx="0">
                  <c:v>0.773</c:v>
                </c:pt>
                <c:pt idx="1">
                  <c:v>0.779</c:v>
                </c:pt>
                <c:pt idx="2">
                  <c:v>0.812</c:v>
                </c:pt>
                <c:pt idx="3">
                  <c:v>0.812</c:v>
                </c:pt>
                <c:pt idx="4">
                  <c:v>0.821</c:v>
                </c:pt>
                <c:pt idx="5">
                  <c:v>1.012</c:v>
                </c:pt>
                <c:pt idx="6">
                  <c:v>1.062</c:v>
                </c:pt>
              </c:numCache>
            </c:numRef>
          </c:val>
        </c:ser>
        <c:ser>
          <c:idx val="1"/>
          <c:order val="1"/>
          <c:tx>
            <c:strRef>
              <c:f>Sheet1!$C$1</c:f>
              <c:strCache>
                <c:ptCount val="1"/>
                <c:pt idx="0">
                  <c:v>Final test (unseen)</c:v>
                </c:pt>
              </c:strCache>
            </c:strRef>
          </c:tx>
          <c:spPr>
            <a:solidFill>
              <a:srgbClr val="CADCFC"/>
            </a:solidFill>
            <a:effectLst/>
          </c:spPr>
          <c:invertIfNegative val="0"/>
          <c:dLbls>
            <c:numFmt formatCode="0.00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Sheet1!$A$2:$A$8</c:f>
              <c:multiLvlStrCache>
                <c:ptCount val="7"/>
                <c:lvl>
                  <c:pt idx="0">
                    <c:v>ETS</c:v>
                  </c:pt>
                  <c:pt idx="1">
                    <c:v>SARIMA</c:v>
                  </c:pt>
                  <c:pt idx="2">
                    <c:v>ARIMA</c:v>
                  </c:pt>
                  <c:pt idx="3">
                    <c:v>Croston-SBA</c:v>
                  </c:pt>
                  <c:pt idx="4">
                    <c:v>28-day average</c:v>
                  </c:pt>
                  <c:pt idx="5">
                    <c:v>Seasonal naive</c:v>
                  </c:pt>
                  <c:pt idx="6">
                    <c:v>Naive</c:v>
                  </c:pt>
                </c:lvl>
              </c:multiLvlStrCache>
            </c:multiLvlStrRef>
          </c:cat>
          <c:val>
            <c:numRef>
              <c:f>Sheet1!$C$2:$C$8</c:f>
              <c:numCache>
                <c:formatCode>General</c:formatCode>
                <c:ptCount val="7"/>
                <c:pt idx="0">
                  <c:v>0.76</c:v>
                </c:pt>
                <c:pt idx="1">
                  <c:v>0.756</c:v>
                </c:pt>
                <c:pt idx="2">
                  <c:v>0.806</c:v>
                </c:pt>
                <c:pt idx="3">
                  <c:v>0.823</c:v>
                </c:pt>
                <c:pt idx="4">
                  <c:v>0.834</c:v>
                </c:pt>
                <c:pt idx="5">
                  <c:v>1.077</c:v>
                </c:pt>
                <c:pt idx="6">
                  <c:v>1.362</c:v>
                </c:pt>
              </c:numCache>
            </c:numRef>
          </c:val>
        </c:ser>
        <c:dLbls>
          <c:numFmt formatCode="0.00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(30s). The project asks two questions: can statistical time-series models forecast daily retail demand well, and does using those forecasts to set reorder points actually improve inventory outcomes compared with a simple rule of thumb? Everything is built on the public Walmart M5 dataset and delivered as an interactive dashboard called OptiChain.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(1 min). Ordering happens before demand is known, so forecast errors become either stockouts or excess stock. Retail demand is hard: weekly rhythm, seasons, events, and in this store the typical product has zero sales on 58% of days. Important caveat to state early: M5 has sales but no inventory data, so all inventory results are a simulation under stated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overview (1 min). Seven stages. The key discipline is no look-ahead: every decision is made using only data before the forecast date, and the last four weeks of data were locked away until one final test whose model choices were written down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selection (1 min). Rather than hand-pick, products were classified by how often they sell (ADI) and how much quantities vary (CV squared). 72% of eligible items are intermittent. One decision worth mentioning: items with month-long zero runs were excluded, because those are almost certainly stockouts rather than zero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(1 min). The dominant pattern is the weekend peak, which is why every model uses a 7-day season. Events and SNAP have small effects. A practical detail: Christmas Day is a store closure with zero sales; it badly distorted the statistical tests until it was filled with the previous week's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Identification (1.5 min). ADF and KPSS were combined because they have opposite null hypotheses. The surprise: despite strong weekend peaks, no product passed the seasonal-strength threshold, so weekly structure goes into seasonal AR/MA terms. Where the tests disagreed, I didn't guess: both options were carried forward and decided by out-of-sample accuracy, because AIC can't compare different amounts of differencing.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accuracy (1.5 min). Seven methods, four rolling test months. ETS and SARIMA lead and are about 21% more accurate than repeating last week. Their difference is under 1%, so I treat them as jointly best. The light bars are the final unseen test, which tells the same story. Prediction intervals are well calibrated, which matters because safety stock is sized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(45s). This is the high-volume food item. The model captures the weekly rhythm but averages it over many weeks instead of copying last week's noise; that's where the accuracy gain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Residual diagnostics (1.5 min). Errors are unbiased in all 32 fits. There is a little leftover weekly pattern, statistically detectable, practically tiny. ARCH-LM found volatility clustering in three series, so GARCH was fitted there, but it improved interval scores by at most 2.4% and made SARIMA intervals worse. So GARCH is not used. The plan explicitly allows that negative result. I'm transparent that a stricter acceptance check was added after seeing the fits; both are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simulation (1.5 min). Every policy faces the same real sales and starting stock; only the reorder rule differs. The forecast-driven plan sums the forecast over the delivery window. Policy 2 replaces the bell-curve buffer with the real spread of past errors. In the default scenario the forecast plan is 11% cheaper. Perfect hindsight isn't the cheapest because the rule isn't cost-optimised; it bounds service and stock, not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 curves (1 min). Sweeping the service target shows the full trade-off. For steady products the forecast curves sit up and to the left: more service from less stock. But for one calm food item and one spiky hobby item the simple rule is more efficient, so forecasting is not a universal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and key finding (1.5 min). Across nine lead-time and service scenarios, the forecast plan is cheaper in eight, by 3 to 11%. I quote the range because the default scenario happens to be the most favourable. The most useful finding: the bell-curve versus empirical buffer choice barely matters (0–15%). What matters is that in-sample errors misjudge real errors by up to 26%, because decisions rely on forecasts made weeks earlier. That points directly at the next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test (1 min). Before loading the last four weeks I wrote down which model each product would use. On that unseen month the forecasts were just as accurate as in the backtest, slightly better in fact. Inventory: the forecast plan is cheaper overall, but honestly most of that comes from one product; without it, costs are equal while the forecast plan holds about 10% less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(3 min): (1) Overview: pick Food #3-586. (2) Understand demand: Sunday is busiest, +37%. (3) Predict: switch methods and forecast dates; the method bars. (4) Model check: verdict cards. (5) Plan stock: read the recommendation, move delivery time to 7 days, press Replay to watch stock levels. (6) Report: the 8-of-9 robustness heatmap and downloads. Backup if the demo fails: this screenshot and the report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(1 min). Three takeaways and next steps. Inventory figures are simulated under stated assumptions, and all code, notebooks, the report and the dashboard are reproducible from the repository.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3611880"/>
            <a:ext cx="11094415" cy="2743200"/>
          </a:xfrm>
          <a:prstGeom prst="rect">
            <a:avLst/>
          </a:prstGeom>
          <a:noFill/>
          <a:ln/>
        </p:spPr>
        <p:txBody>
          <a:bodyPr wrap="square" rtlCol="0"/>
          <a:lstStyle>
            <a:lvl1pPr indent="0" marL="0">
              <a:buNone/>
              <a:defRPr lang="en-US" sz="1800" dirty="0">
                <a:solidFill>
                  <a:schemeClr val="accent4"/>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OptiChain · Walmart M5 demand forecasting &amp; inventory</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Demand Forecasting for Supply Chain Inventory Optimization</a:t>
            </a:r>
            <a:endParaRPr lang="en-US" sz="4000" dirty="0"/>
          </a:p>
        </p:txBody>
      </p:sp>
      <p:sp>
        <p:nvSpPr>
          <p:cNvPr id="3" name="Text 0"/>
          <p:cNvSpPr/>
          <p:nvPr>
            <p:ph idx="101" type="body" hasCustomPrompt="1"/>
          </p:nvPr>
        </p:nvSpPr>
        <p:spPr>
          <a:xfrm>
            <a:off x="548640" y="3611880"/>
            <a:ext cx="11094415" cy="274320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Time-series analysis on the Walmart M5 dataset, from daily sales to reorder decisions</a:t>
            </a:r>
            <a:endParaRPr lang="en-US" sz="1800" dirty="0"/>
          </a:p>
        </p:txBody>
      </p:sp>
      <p:sp>
        <p:nvSpPr>
          <p:cNvPr id="4" name="Text 2"/>
          <p:cNvSpPr txBox="1"/>
          <p:nvPr/>
        </p:nvSpPr>
        <p:spPr>
          <a:xfrm>
            <a:off x="548640" y="548640"/>
            <a:ext cx="3657600" cy="457200"/>
          </a:xfrm>
          <a:prstGeom prst="rect">
            <a:avLst/>
          </a:prstGeom>
          <a:noFill/>
          <a:ln/>
        </p:spPr>
        <p:txBody>
          <a:bodyPr wrap="square" lIns="0" tIns="0" rIns="0" bIns="0" rtlCol="0" anchor="ctr"/>
          <a:lstStyle/>
          <a:p>
            <a:pPr indent="0" marL="0">
              <a:buNone/>
            </a:pPr>
            <a:r>
              <a:rPr lang="en-US" sz="1800" b="1" dirty="0">
                <a:solidFill>
                  <a:schemeClr val="accent4"/>
                </a:solidFill>
              </a:rPr>
              <a:t>OptiChain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Stock has to be ordered before demand is known</a:t>
            </a:r>
            <a:endParaRPr lang="en-US" sz="3200" dirty="0"/>
          </a:p>
        </p:txBody>
      </p:sp>
      <p:sp>
        <p:nvSpPr>
          <p:cNvPr id="3" name="Text 1"/>
          <p:cNvSpPr txBox="1"/>
          <p:nvPr/>
        </p:nvSpPr>
        <p:spPr>
          <a:xfrm>
            <a:off x="548640" y="1463040"/>
            <a:ext cx="576072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Under-forecast → empty shelves and lost sales</a:t>
            </a:r>
            <a:endParaRPr lang="en-US" sz="1600" dirty="0"/>
          </a:p>
          <a:p>
            <a:pPr marL="342900" indent="-342900">
              <a:spcAft>
                <a:spcPts val="800"/>
              </a:spcAft>
              <a:buSzPct val="100000"/>
              <a:buChar char="•"/>
            </a:pPr>
            <a:r>
              <a:rPr lang="en-US" sz="1600" dirty="0">
                <a:solidFill>
                  <a:schemeClr val="tx1"/>
                </a:solidFill>
              </a:rPr>
              <a:t>Over-forecast → cash tied up in excess stock</a:t>
            </a:r>
            <a:endParaRPr lang="en-US" sz="1600" dirty="0"/>
          </a:p>
          <a:p>
            <a:pPr marL="342900" indent="-342900">
              <a:spcAft>
                <a:spcPts val="800"/>
              </a:spcAft>
              <a:buSzPct val="100000"/>
              <a:buChar char="•"/>
            </a:pPr>
            <a:r>
              <a:rPr lang="en-US" sz="1600" dirty="0">
                <a:solidFill>
                  <a:schemeClr val="tx1"/>
                </a:solidFill>
              </a:rPr>
              <a:t>Daily demand shifts with weekday, season, events and price, and many products sell only now and then</a:t>
            </a:r>
            <a:endParaRPr lang="en-US" sz="1600" dirty="0"/>
          </a:p>
          <a:p>
            <a:pPr marL="342900" indent="-342900">
              <a:spcAft>
                <a:spcPts val="800"/>
              </a:spcAft>
              <a:buSzPct val="100000"/>
              <a:buChar char="•"/>
            </a:pPr>
            <a:r>
              <a:rPr lang="en-US" sz="1600" dirty="0">
                <a:solidFill>
                  <a:schemeClr val="tx1"/>
                </a:solidFill>
              </a:rPr>
              <a:t>Question: do better forecasts lead to better reorder decisions?</a:t>
            </a:r>
            <a:endParaRPr lang="en-US" sz="1600" dirty="0"/>
          </a:p>
        </p:txBody>
      </p:sp>
      <p:sp>
        <p:nvSpPr>
          <p:cNvPr id="4" name="stat card 1"/>
          <p:cNvSpPr/>
          <p:nvPr/>
        </p:nvSpPr>
        <p:spPr>
          <a:xfrm>
            <a:off x="6903720" y="1417320"/>
            <a:ext cx="47548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5" name="Text 3"/>
          <p:cNvSpPr txBox="1"/>
          <p:nvPr/>
        </p:nvSpPr>
        <p:spPr>
          <a:xfrm>
            <a:off x="7178040" y="1463040"/>
            <a:ext cx="4297680" cy="73152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3,049</a:t>
            </a:r>
            <a:endParaRPr lang="en-US" sz="3400" dirty="0"/>
          </a:p>
        </p:txBody>
      </p:sp>
      <p:sp>
        <p:nvSpPr>
          <p:cNvPr id="6" name="Text 4"/>
          <p:cNvSpPr txBox="1"/>
          <p:nvPr/>
        </p:nvSpPr>
        <p:spPr>
          <a:xfrm>
            <a:off x="7178040" y="2240280"/>
            <a:ext cx="4297680" cy="685800"/>
          </a:xfrm>
          <a:prstGeom prst="rect">
            <a:avLst/>
          </a:prstGeom>
          <a:noFill/>
          <a:ln/>
        </p:spPr>
        <p:txBody>
          <a:bodyPr wrap="square" lIns="0" tIns="0" rIns="0" bIns="0" rtlCol="0" anchor="t"/>
          <a:lstStyle/>
          <a:p>
            <a:pPr indent="0" marL="0">
              <a:buNone/>
            </a:pPr>
            <a:r>
              <a:rPr lang="en-US" sz="1400" dirty="0">
                <a:solidFill>
                  <a:schemeClr val="tx1"/>
                </a:solidFill>
              </a:rPr>
              <a:t>products in Walmart store CA_1</a:t>
            </a:r>
            <a:endParaRPr lang="en-US" sz="1400" dirty="0"/>
          </a:p>
        </p:txBody>
      </p:sp>
      <p:sp>
        <p:nvSpPr>
          <p:cNvPr id="7" name="stat card 2"/>
          <p:cNvSpPr/>
          <p:nvPr/>
        </p:nvSpPr>
        <p:spPr>
          <a:xfrm>
            <a:off x="6903720" y="3017520"/>
            <a:ext cx="47548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8" name="Text 6"/>
          <p:cNvSpPr txBox="1"/>
          <p:nvPr/>
        </p:nvSpPr>
        <p:spPr>
          <a:xfrm>
            <a:off x="7178040" y="3063240"/>
            <a:ext cx="4297680" cy="73152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5.2 yrs</a:t>
            </a:r>
            <a:endParaRPr lang="en-US" sz="3400" dirty="0"/>
          </a:p>
        </p:txBody>
      </p:sp>
      <p:sp>
        <p:nvSpPr>
          <p:cNvPr id="9" name="Text 7"/>
          <p:cNvSpPr txBox="1"/>
          <p:nvPr/>
        </p:nvSpPr>
        <p:spPr>
          <a:xfrm>
            <a:off x="7178040" y="3840480"/>
            <a:ext cx="4297680" cy="685800"/>
          </a:xfrm>
          <a:prstGeom prst="rect">
            <a:avLst/>
          </a:prstGeom>
          <a:noFill/>
          <a:ln/>
        </p:spPr>
        <p:txBody>
          <a:bodyPr wrap="square" lIns="0" tIns="0" rIns="0" bIns="0" rtlCol="0" anchor="t"/>
          <a:lstStyle/>
          <a:p>
            <a:pPr indent="0" marL="0">
              <a:buNone/>
            </a:pPr>
            <a:r>
              <a:rPr lang="en-US" sz="1400" dirty="0">
                <a:solidFill>
                  <a:schemeClr val="tx1"/>
                </a:solidFill>
              </a:rPr>
              <a:t>of daily sales history (2011–2016)</a:t>
            </a:r>
            <a:endParaRPr lang="en-US" sz="1400" dirty="0"/>
          </a:p>
        </p:txBody>
      </p:sp>
      <p:sp>
        <p:nvSpPr>
          <p:cNvPr id="10" name="stat card 3"/>
          <p:cNvSpPr/>
          <p:nvPr/>
        </p:nvSpPr>
        <p:spPr>
          <a:xfrm>
            <a:off x="6903720" y="4617720"/>
            <a:ext cx="47548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1" name="Text 9"/>
          <p:cNvSpPr txBox="1"/>
          <p:nvPr/>
        </p:nvSpPr>
        <p:spPr>
          <a:xfrm>
            <a:off x="7178040" y="4663440"/>
            <a:ext cx="4297680" cy="73152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58%</a:t>
            </a:r>
            <a:endParaRPr lang="en-US" sz="3400" dirty="0"/>
          </a:p>
        </p:txBody>
      </p:sp>
      <p:sp>
        <p:nvSpPr>
          <p:cNvPr id="12" name="Text 10"/>
          <p:cNvSpPr txBox="1"/>
          <p:nvPr/>
        </p:nvSpPr>
        <p:spPr>
          <a:xfrm>
            <a:off x="7178040" y="5440680"/>
            <a:ext cx="4297680" cy="685800"/>
          </a:xfrm>
          <a:prstGeom prst="rect">
            <a:avLst/>
          </a:prstGeom>
          <a:noFill/>
          <a:ln/>
        </p:spPr>
        <p:txBody>
          <a:bodyPr wrap="square" lIns="0" tIns="0" rIns="0" bIns="0" rtlCol="0" anchor="t"/>
          <a:lstStyle/>
          <a:p>
            <a:pPr indent="0" marL="0">
              <a:buNone/>
            </a:pPr>
            <a:r>
              <a:rPr lang="en-US" sz="1400" dirty="0">
                <a:solidFill>
                  <a:schemeClr val="tx1"/>
                </a:solidFill>
              </a:rPr>
              <a:t>of days with zero sales for the typical product</a:t>
            </a:r>
            <a:endParaRPr lang="en-US" sz="1400" dirty="0"/>
          </a:p>
        </p:txBody>
      </p:sp>
      <p:sp>
        <p:nvSpPr>
          <p:cNvPr id="13" name="Text 11"/>
          <p:cNvSpPr txBox="1"/>
          <p:nvPr/>
        </p:nvSpPr>
        <p:spPr>
          <a:xfrm>
            <a:off x="548640" y="5257800"/>
            <a:ext cx="5760720" cy="640080"/>
          </a:xfrm>
          <a:prstGeom prst="rect">
            <a:avLst/>
          </a:prstGeom>
          <a:noFill/>
          <a:ln/>
        </p:spPr>
        <p:txBody>
          <a:bodyPr wrap="square" lIns="0" tIns="0" rIns="0" bIns="0" rtlCol="0" anchor="ctr"/>
          <a:lstStyle/>
          <a:p>
            <a:pPr indent="0" marL="0">
              <a:buNone/>
            </a:pPr>
            <a:r>
              <a:rPr lang="en-US" sz="1300" i="1" dirty="0">
                <a:solidFill>
                  <a:schemeClr val="accent5"/>
                </a:solidFill>
              </a:rPr>
              <a:t>M5 contains sales only: inventory, lead times and costs in this project are hypothetical</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An end-to-end pipeline with no look-ahead</a:t>
            </a:r>
            <a:endParaRPr lang="en-US" sz="3200" dirty="0"/>
          </a:p>
        </p:txBody>
      </p:sp>
      <p:sp>
        <p:nvSpPr>
          <p:cNvPr id="3" name="step 1"/>
          <p:cNvSpPr/>
          <p:nvPr/>
        </p:nvSpPr>
        <p:spPr>
          <a:xfrm>
            <a:off x="548640" y="1600200"/>
            <a:ext cx="1443838" cy="2834640"/>
          </a:xfrm>
          <a:prstGeom prst="roundRect">
            <a:avLst>
              <a:gd name="adj" fmla="val 76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4" name="badge 1"/>
          <p:cNvSpPr/>
          <p:nvPr/>
        </p:nvSpPr>
        <p:spPr>
          <a:xfrm>
            <a:off x="749808" y="1810512"/>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749808" y="18105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749808" y="2377440"/>
            <a:ext cx="1078078" cy="457200"/>
          </a:xfrm>
          <a:prstGeom prst="rect">
            <a:avLst/>
          </a:prstGeom>
          <a:noFill/>
          <a:ln/>
        </p:spPr>
        <p:txBody>
          <a:bodyPr wrap="square" lIns="0" tIns="0" rIns="0" bIns="0" rtlCol="0" anchor="ctr"/>
          <a:lstStyle/>
          <a:p>
            <a:pPr indent="0" marL="0">
              <a:buNone/>
            </a:pPr>
            <a:r>
              <a:rPr lang="en-US" sz="1600" b="1" dirty="0">
                <a:solidFill>
                  <a:schemeClr val="tx2"/>
                </a:solidFill>
              </a:rPr>
              <a:t>Data</a:t>
            </a:r>
            <a:endParaRPr lang="en-US" sz="1600" dirty="0"/>
          </a:p>
        </p:txBody>
      </p:sp>
      <p:sp>
        <p:nvSpPr>
          <p:cNvPr id="7" name="Text 5"/>
          <p:cNvSpPr txBox="1"/>
          <p:nvPr/>
        </p:nvSpPr>
        <p:spPr>
          <a:xfrm>
            <a:off x="749808" y="2834640"/>
            <a:ext cx="1078078" cy="1463040"/>
          </a:xfrm>
          <a:prstGeom prst="rect">
            <a:avLst/>
          </a:prstGeom>
          <a:noFill/>
          <a:ln/>
        </p:spPr>
        <p:txBody>
          <a:bodyPr wrap="square" lIns="0" tIns="0" rIns="0" bIns="0" rtlCol="0" anchor="t"/>
          <a:lstStyle/>
          <a:p>
            <a:pPr indent="0" marL="0">
              <a:buNone/>
            </a:pPr>
            <a:r>
              <a:rPr lang="en-US" sz="1300" dirty="0">
                <a:solidFill>
                  <a:schemeClr val="tx1"/>
                </a:solidFill>
              </a:rPr>
              <a:t>Reshape and join 5.8M rows; launch and closure fixes</a:t>
            </a:r>
            <a:endParaRPr lang="en-US" sz="1300" dirty="0"/>
          </a:p>
        </p:txBody>
      </p:sp>
      <p:sp>
        <p:nvSpPr>
          <p:cNvPr id="8" name="step 2"/>
          <p:cNvSpPr/>
          <p:nvPr/>
        </p:nvSpPr>
        <p:spPr>
          <a:xfrm>
            <a:off x="2157070" y="1600200"/>
            <a:ext cx="1443838" cy="2834640"/>
          </a:xfrm>
          <a:prstGeom prst="roundRect">
            <a:avLst>
              <a:gd name="adj" fmla="val 76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9" name="badge 2"/>
          <p:cNvSpPr/>
          <p:nvPr/>
        </p:nvSpPr>
        <p:spPr>
          <a:xfrm>
            <a:off x="2358238" y="1810512"/>
            <a:ext cx="420624" cy="420624"/>
          </a:xfrm>
          <a:prstGeom prst="ellipse">
            <a:avLst/>
          </a:prstGeom>
          <a:solidFill>
            <a:schemeClr val="accent1"/>
          </a:solidFill>
          <a:ln w="12700">
            <a:solidFill>
              <a:schemeClr val="accent1"/>
            </a:solidFill>
            <a:prstDash val="solid"/>
          </a:ln>
        </p:spPr>
      </p:sp>
      <p:sp>
        <p:nvSpPr>
          <p:cNvPr id="10" name="Text 8"/>
          <p:cNvSpPr txBox="1"/>
          <p:nvPr/>
        </p:nvSpPr>
        <p:spPr>
          <a:xfrm>
            <a:off x="2358238" y="18105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2358238" y="2377440"/>
            <a:ext cx="1078078" cy="457200"/>
          </a:xfrm>
          <a:prstGeom prst="rect">
            <a:avLst/>
          </a:prstGeom>
          <a:noFill/>
          <a:ln/>
        </p:spPr>
        <p:txBody>
          <a:bodyPr wrap="square" lIns="0" tIns="0" rIns="0" bIns="0" rtlCol="0" anchor="ctr"/>
          <a:lstStyle/>
          <a:p>
            <a:pPr indent="0" marL="0">
              <a:buNone/>
            </a:pPr>
            <a:r>
              <a:rPr lang="en-US" sz="1600" b="1" dirty="0">
                <a:solidFill>
                  <a:schemeClr val="tx2"/>
                </a:solidFill>
              </a:rPr>
              <a:t>Understand</a:t>
            </a:r>
            <a:endParaRPr lang="en-US" sz="1600" dirty="0"/>
          </a:p>
        </p:txBody>
      </p:sp>
      <p:sp>
        <p:nvSpPr>
          <p:cNvPr id="12" name="Text 10"/>
          <p:cNvSpPr txBox="1"/>
          <p:nvPr/>
        </p:nvSpPr>
        <p:spPr>
          <a:xfrm>
            <a:off x="2358238" y="2834640"/>
            <a:ext cx="1078078" cy="1463040"/>
          </a:xfrm>
          <a:prstGeom prst="rect">
            <a:avLst/>
          </a:prstGeom>
          <a:noFill/>
          <a:ln/>
        </p:spPr>
        <p:txBody>
          <a:bodyPr wrap="square" lIns="0" tIns="0" rIns="0" bIns="0" rtlCol="0" anchor="t"/>
          <a:lstStyle/>
          <a:p>
            <a:pPr indent="0" marL="0">
              <a:buNone/>
            </a:pPr>
            <a:r>
              <a:rPr lang="en-US" sz="1300" dirty="0">
                <a:solidFill>
                  <a:schemeClr val="tx1"/>
                </a:solidFill>
              </a:rPr>
              <a:t>Weekly rhythm, seasons, events, price</a:t>
            </a:r>
            <a:endParaRPr lang="en-US" sz="1300" dirty="0"/>
          </a:p>
        </p:txBody>
      </p:sp>
      <p:sp>
        <p:nvSpPr>
          <p:cNvPr id="13" name="step 3"/>
          <p:cNvSpPr/>
          <p:nvPr/>
        </p:nvSpPr>
        <p:spPr>
          <a:xfrm>
            <a:off x="3765499" y="1600200"/>
            <a:ext cx="1443838" cy="2834640"/>
          </a:xfrm>
          <a:prstGeom prst="roundRect">
            <a:avLst>
              <a:gd name="adj" fmla="val 76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4" name="badge 3"/>
          <p:cNvSpPr/>
          <p:nvPr/>
        </p:nvSpPr>
        <p:spPr>
          <a:xfrm>
            <a:off x="3966667" y="1810512"/>
            <a:ext cx="420624" cy="420624"/>
          </a:xfrm>
          <a:prstGeom prst="ellipse">
            <a:avLst/>
          </a:prstGeom>
          <a:solidFill>
            <a:schemeClr val="accent1"/>
          </a:solidFill>
          <a:ln w="12700">
            <a:solidFill>
              <a:schemeClr val="accent1"/>
            </a:solidFill>
            <a:prstDash val="solid"/>
          </a:ln>
        </p:spPr>
      </p:sp>
      <p:sp>
        <p:nvSpPr>
          <p:cNvPr id="15" name="Text 13"/>
          <p:cNvSpPr txBox="1"/>
          <p:nvPr/>
        </p:nvSpPr>
        <p:spPr>
          <a:xfrm>
            <a:off x="3966667" y="18105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3966667" y="2377440"/>
            <a:ext cx="1078078" cy="457200"/>
          </a:xfrm>
          <a:prstGeom prst="rect">
            <a:avLst/>
          </a:prstGeom>
          <a:noFill/>
          <a:ln/>
        </p:spPr>
        <p:txBody>
          <a:bodyPr wrap="square" lIns="0" tIns="0" rIns="0" bIns="0" rtlCol="0" anchor="ctr"/>
          <a:lstStyle/>
          <a:p>
            <a:pPr indent="0" marL="0">
              <a:buNone/>
            </a:pPr>
            <a:r>
              <a:rPr lang="en-US" sz="1600" b="1" dirty="0">
                <a:solidFill>
                  <a:schemeClr val="tx2"/>
                </a:solidFill>
              </a:rPr>
              <a:t>Identify</a:t>
            </a:r>
            <a:endParaRPr lang="en-US" sz="1600" dirty="0"/>
          </a:p>
        </p:txBody>
      </p:sp>
      <p:sp>
        <p:nvSpPr>
          <p:cNvPr id="17" name="Text 15"/>
          <p:cNvSpPr txBox="1"/>
          <p:nvPr/>
        </p:nvSpPr>
        <p:spPr>
          <a:xfrm>
            <a:off x="3966667" y="2834640"/>
            <a:ext cx="1078078" cy="1463040"/>
          </a:xfrm>
          <a:prstGeom prst="rect">
            <a:avLst/>
          </a:prstGeom>
          <a:noFill/>
          <a:ln/>
        </p:spPr>
        <p:txBody>
          <a:bodyPr wrap="square" lIns="0" tIns="0" rIns="0" bIns="0" rtlCol="0" anchor="t"/>
          <a:lstStyle/>
          <a:p>
            <a:pPr indent="0" marL="0">
              <a:buNone/>
            </a:pPr>
            <a:r>
              <a:rPr lang="en-US" sz="1300" dirty="0">
                <a:solidFill>
                  <a:schemeClr val="tx1"/>
                </a:solidFill>
              </a:rPr>
              <a:t>ADF + KPSS, STL, ACF/PACF per origin</a:t>
            </a:r>
            <a:endParaRPr lang="en-US" sz="1300" dirty="0"/>
          </a:p>
        </p:txBody>
      </p:sp>
      <p:sp>
        <p:nvSpPr>
          <p:cNvPr id="18" name="step 4"/>
          <p:cNvSpPr/>
          <p:nvPr/>
        </p:nvSpPr>
        <p:spPr>
          <a:xfrm>
            <a:off x="5373929" y="1600200"/>
            <a:ext cx="1443838" cy="2834640"/>
          </a:xfrm>
          <a:prstGeom prst="roundRect">
            <a:avLst>
              <a:gd name="adj" fmla="val 76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9" name="badge 4"/>
          <p:cNvSpPr/>
          <p:nvPr/>
        </p:nvSpPr>
        <p:spPr>
          <a:xfrm>
            <a:off x="5575097" y="1810512"/>
            <a:ext cx="420624" cy="420624"/>
          </a:xfrm>
          <a:prstGeom prst="ellipse">
            <a:avLst/>
          </a:prstGeom>
          <a:solidFill>
            <a:schemeClr val="accent1"/>
          </a:solidFill>
          <a:ln w="12700">
            <a:solidFill>
              <a:schemeClr val="accent1"/>
            </a:solidFill>
            <a:prstDash val="solid"/>
          </a:ln>
        </p:spPr>
      </p:sp>
      <p:sp>
        <p:nvSpPr>
          <p:cNvPr id="20" name="Text 18"/>
          <p:cNvSpPr txBox="1"/>
          <p:nvPr/>
        </p:nvSpPr>
        <p:spPr>
          <a:xfrm>
            <a:off x="5575097" y="18105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5575097" y="2377440"/>
            <a:ext cx="1078078" cy="457200"/>
          </a:xfrm>
          <a:prstGeom prst="rect">
            <a:avLst/>
          </a:prstGeom>
          <a:noFill/>
          <a:ln/>
        </p:spPr>
        <p:txBody>
          <a:bodyPr wrap="square" lIns="0" tIns="0" rIns="0" bIns="0" rtlCol="0" anchor="ctr"/>
          <a:lstStyle/>
          <a:p>
            <a:pPr indent="0" marL="0">
              <a:buNone/>
            </a:pPr>
            <a:r>
              <a:rPr lang="en-US" sz="1600" b="1" dirty="0">
                <a:solidFill>
                  <a:schemeClr val="tx2"/>
                </a:solidFill>
              </a:rPr>
              <a:t>Forecast</a:t>
            </a:r>
            <a:endParaRPr lang="en-US" sz="1600" dirty="0"/>
          </a:p>
        </p:txBody>
      </p:sp>
      <p:sp>
        <p:nvSpPr>
          <p:cNvPr id="22" name="Text 20"/>
          <p:cNvSpPr txBox="1"/>
          <p:nvPr/>
        </p:nvSpPr>
        <p:spPr>
          <a:xfrm>
            <a:off x="5575097" y="2834640"/>
            <a:ext cx="1078078" cy="1463040"/>
          </a:xfrm>
          <a:prstGeom prst="rect">
            <a:avLst/>
          </a:prstGeom>
          <a:noFill/>
          <a:ln/>
        </p:spPr>
        <p:txBody>
          <a:bodyPr wrap="square" lIns="0" tIns="0" rIns="0" bIns="0" rtlCol="0" anchor="t"/>
          <a:lstStyle/>
          <a:p>
            <a:pPr indent="0" marL="0">
              <a:buNone/>
            </a:pPr>
            <a:r>
              <a:rPr lang="en-US" sz="1300" dirty="0">
                <a:solidFill>
                  <a:schemeClr val="tx1"/>
                </a:solidFill>
              </a:rPr>
              <a:t>7 methods, 4 rolling test months</a:t>
            </a:r>
            <a:endParaRPr lang="en-US" sz="1300" dirty="0"/>
          </a:p>
        </p:txBody>
      </p:sp>
      <p:sp>
        <p:nvSpPr>
          <p:cNvPr id="23" name="step 5"/>
          <p:cNvSpPr/>
          <p:nvPr/>
        </p:nvSpPr>
        <p:spPr>
          <a:xfrm>
            <a:off x="6982358" y="1600200"/>
            <a:ext cx="1443838" cy="2834640"/>
          </a:xfrm>
          <a:prstGeom prst="roundRect">
            <a:avLst>
              <a:gd name="adj" fmla="val 76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24" name="badge 5"/>
          <p:cNvSpPr/>
          <p:nvPr/>
        </p:nvSpPr>
        <p:spPr>
          <a:xfrm>
            <a:off x="7183526" y="1810512"/>
            <a:ext cx="420624" cy="420624"/>
          </a:xfrm>
          <a:prstGeom prst="ellipse">
            <a:avLst/>
          </a:prstGeom>
          <a:solidFill>
            <a:schemeClr val="accent1"/>
          </a:solidFill>
          <a:ln w="12700">
            <a:solidFill>
              <a:schemeClr val="accent1"/>
            </a:solidFill>
            <a:prstDash val="solid"/>
          </a:ln>
        </p:spPr>
      </p:sp>
      <p:sp>
        <p:nvSpPr>
          <p:cNvPr id="25" name="Text 23"/>
          <p:cNvSpPr txBox="1"/>
          <p:nvPr/>
        </p:nvSpPr>
        <p:spPr>
          <a:xfrm>
            <a:off x="7183526" y="18105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7183526" y="2377440"/>
            <a:ext cx="1078078" cy="457200"/>
          </a:xfrm>
          <a:prstGeom prst="rect">
            <a:avLst/>
          </a:prstGeom>
          <a:noFill/>
          <a:ln/>
        </p:spPr>
        <p:txBody>
          <a:bodyPr wrap="square" lIns="0" tIns="0" rIns="0" bIns="0" rtlCol="0" anchor="ctr"/>
          <a:lstStyle/>
          <a:p>
            <a:pPr indent="0" marL="0">
              <a:buNone/>
            </a:pPr>
            <a:r>
              <a:rPr lang="en-US" sz="1600" b="1" dirty="0">
                <a:solidFill>
                  <a:schemeClr val="tx2"/>
                </a:solidFill>
              </a:rPr>
              <a:t>Check</a:t>
            </a:r>
            <a:endParaRPr lang="en-US" sz="1600" dirty="0"/>
          </a:p>
        </p:txBody>
      </p:sp>
      <p:sp>
        <p:nvSpPr>
          <p:cNvPr id="27" name="Text 25"/>
          <p:cNvSpPr txBox="1"/>
          <p:nvPr/>
        </p:nvSpPr>
        <p:spPr>
          <a:xfrm>
            <a:off x="7183526" y="2834640"/>
            <a:ext cx="1078078" cy="1463040"/>
          </a:xfrm>
          <a:prstGeom prst="rect">
            <a:avLst/>
          </a:prstGeom>
          <a:noFill/>
          <a:ln/>
        </p:spPr>
        <p:txBody>
          <a:bodyPr wrap="square" lIns="0" tIns="0" rIns="0" bIns="0" rtlCol="0" anchor="t"/>
          <a:lstStyle/>
          <a:p>
            <a:pPr indent="0" marL="0">
              <a:buNone/>
            </a:pPr>
            <a:r>
              <a:rPr lang="en-US" sz="1300" dirty="0">
                <a:solidFill>
                  <a:schemeClr val="tx1"/>
                </a:solidFill>
              </a:rPr>
              <a:t>Residuals, ARCH-LM, gated GARCH</a:t>
            </a:r>
            <a:endParaRPr lang="en-US" sz="1300" dirty="0"/>
          </a:p>
        </p:txBody>
      </p:sp>
      <p:sp>
        <p:nvSpPr>
          <p:cNvPr id="28" name="step 6"/>
          <p:cNvSpPr/>
          <p:nvPr/>
        </p:nvSpPr>
        <p:spPr>
          <a:xfrm>
            <a:off x="8590788" y="1600200"/>
            <a:ext cx="1443838" cy="2834640"/>
          </a:xfrm>
          <a:prstGeom prst="roundRect">
            <a:avLst>
              <a:gd name="adj" fmla="val 76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29" name="badge 6"/>
          <p:cNvSpPr/>
          <p:nvPr/>
        </p:nvSpPr>
        <p:spPr>
          <a:xfrm>
            <a:off x="8791956" y="1810512"/>
            <a:ext cx="420624" cy="420624"/>
          </a:xfrm>
          <a:prstGeom prst="ellipse">
            <a:avLst/>
          </a:prstGeom>
          <a:solidFill>
            <a:schemeClr val="accent1"/>
          </a:solidFill>
          <a:ln w="12700">
            <a:solidFill>
              <a:schemeClr val="accent1"/>
            </a:solidFill>
            <a:prstDash val="solid"/>
          </a:ln>
        </p:spPr>
      </p:sp>
      <p:sp>
        <p:nvSpPr>
          <p:cNvPr id="30" name="Text 28"/>
          <p:cNvSpPr txBox="1"/>
          <p:nvPr/>
        </p:nvSpPr>
        <p:spPr>
          <a:xfrm>
            <a:off x="8791956" y="18105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8791956" y="2377440"/>
            <a:ext cx="1078078" cy="457200"/>
          </a:xfrm>
          <a:prstGeom prst="rect">
            <a:avLst/>
          </a:prstGeom>
          <a:noFill/>
          <a:ln/>
        </p:spPr>
        <p:txBody>
          <a:bodyPr wrap="square" lIns="0" tIns="0" rIns="0" bIns="0" rtlCol="0" anchor="ctr"/>
          <a:lstStyle/>
          <a:p>
            <a:pPr indent="0" marL="0">
              <a:buNone/>
            </a:pPr>
            <a:r>
              <a:rPr lang="en-US" sz="1600" b="1" dirty="0">
                <a:solidFill>
                  <a:schemeClr val="tx2"/>
                </a:solidFill>
              </a:rPr>
              <a:t>Plan stock</a:t>
            </a:r>
            <a:endParaRPr lang="en-US" sz="1600" dirty="0"/>
          </a:p>
        </p:txBody>
      </p:sp>
      <p:sp>
        <p:nvSpPr>
          <p:cNvPr id="32" name="Text 30"/>
          <p:cNvSpPr txBox="1"/>
          <p:nvPr/>
        </p:nvSpPr>
        <p:spPr>
          <a:xfrm>
            <a:off x="8791956" y="2834640"/>
            <a:ext cx="1078078" cy="1463040"/>
          </a:xfrm>
          <a:prstGeom prst="rect">
            <a:avLst/>
          </a:prstGeom>
          <a:noFill/>
          <a:ln/>
        </p:spPr>
        <p:txBody>
          <a:bodyPr wrap="square" lIns="0" tIns="0" rIns="0" bIns="0" rtlCol="0" anchor="t"/>
          <a:lstStyle/>
          <a:p>
            <a:pPr indent="0" marL="0">
              <a:buNone/>
            </a:pPr>
            <a:r>
              <a:rPr lang="en-US" sz="1300" dirty="0">
                <a:solidFill>
                  <a:schemeClr val="tx1"/>
                </a:solidFill>
              </a:rPr>
              <a:t>3 reorder policies, simulated</a:t>
            </a:r>
            <a:endParaRPr lang="en-US" sz="1300" dirty="0"/>
          </a:p>
        </p:txBody>
      </p:sp>
      <p:sp>
        <p:nvSpPr>
          <p:cNvPr id="33" name="step 7"/>
          <p:cNvSpPr/>
          <p:nvPr/>
        </p:nvSpPr>
        <p:spPr>
          <a:xfrm>
            <a:off x="10199218" y="1600200"/>
            <a:ext cx="1443838" cy="2834640"/>
          </a:xfrm>
          <a:prstGeom prst="roundRect">
            <a:avLst>
              <a:gd name="adj" fmla="val 7600"/>
            </a:avLst>
          </a:prstGeom>
          <a:solidFill>
            <a:schemeClr val="accent4"/>
          </a:solidFill>
          <a:ln w="12700">
            <a:solidFill>
              <a:schemeClr val="accent4"/>
            </a:solidFill>
            <a:prstDash val="solid"/>
          </a:ln>
          <a:effectLst>
            <a:outerShdw sx="100000" sy="100000" kx="0" ky="0" algn="bl" rotWithShape="0" blurRad="101600" dist="25400" dir="5400000">
              <a:srgbClr val="0F172A">
                <a:alpha val="12000"/>
              </a:srgbClr>
            </a:outerShdw>
          </a:effectLst>
        </p:spPr>
      </p:sp>
      <p:sp>
        <p:nvSpPr>
          <p:cNvPr id="34" name="badge 7"/>
          <p:cNvSpPr/>
          <p:nvPr/>
        </p:nvSpPr>
        <p:spPr>
          <a:xfrm>
            <a:off x="10400386" y="1810512"/>
            <a:ext cx="420624" cy="420624"/>
          </a:xfrm>
          <a:prstGeom prst="ellipse">
            <a:avLst/>
          </a:prstGeom>
          <a:solidFill>
            <a:schemeClr val="tx2"/>
          </a:solidFill>
          <a:ln w="12700">
            <a:solidFill>
              <a:schemeClr val="tx2"/>
            </a:solidFill>
            <a:prstDash val="solid"/>
          </a:ln>
        </p:spPr>
      </p:sp>
      <p:sp>
        <p:nvSpPr>
          <p:cNvPr id="35" name="Text 33"/>
          <p:cNvSpPr txBox="1"/>
          <p:nvPr/>
        </p:nvSpPr>
        <p:spPr>
          <a:xfrm>
            <a:off x="10400386" y="18105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Text 34"/>
          <p:cNvSpPr txBox="1"/>
          <p:nvPr/>
        </p:nvSpPr>
        <p:spPr>
          <a:xfrm>
            <a:off x="10400386" y="2377440"/>
            <a:ext cx="1078078" cy="457200"/>
          </a:xfrm>
          <a:prstGeom prst="rect">
            <a:avLst/>
          </a:prstGeom>
          <a:noFill/>
          <a:ln/>
        </p:spPr>
        <p:txBody>
          <a:bodyPr wrap="square" lIns="0" tIns="0" rIns="0" bIns="0" rtlCol="0" anchor="ctr"/>
          <a:lstStyle/>
          <a:p>
            <a:pPr indent="0" marL="0">
              <a:buNone/>
            </a:pPr>
            <a:r>
              <a:rPr lang="en-US" sz="1600" b="1" dirty="0">
                <a:solidFill>
                  <a:schemeClr val="tx2"/>
                </a:solidFill>
              </a:rPr>
              <a:t>Final test</a:t>
            </a:r>
            <a:endParaRPr lang="en-US" sz="1600" dirty="0"/>
          </a:p>
        </p:txBody>
      </p:sp>
      <p:sp>
        <p:nvSpPr>
          <p:cNvPr id="37" name="Text 35"/>
          <p:cNvSpPr txBox="1"/>
          <p:nvPr/>
        </p:nvSpPr>
        <p:spPr>
          <a:xfrm>
            <a:off x="10400386" y="2834640"/>
            <a:ext cx="1078078" cy="1463040"/>
          </a:xfrm>
          <a:prstGeom prst="rect">
            <a:avLst/>
          </a:prstGeom>
          <a:noFill/>
          <a:ln/>
        </p:spPr>
        <p:txBody>
          <a:bodyPr wrap="square" lIns="0" tIns="0" rIns="0" bIns="0" rtlCol="0" anchor="t"/>
          <a:lstStyle/>
          <a:p>
            <a:pPr indent="0" marL="0">
              <a:buNone/>
            </a:pPr>
            <a:r>
              <a:rPr lang="en-US" sz="1300" dirty="0">
                <a:solidFill>
                  <a:schemeClr val="tx1"/>
                </a:solidFill>
              </a:rPr>
              <a:t>Pre-registered, unseen month</a:t>
            </a:r>
            <a:endParaRPr lang="en-US" sz="1300" dirty="0"/>
          </a:p>
        </p:txBody>
      </p:sp>
      <p:sp>
        <p:nvSpPr>
          <p:cNvPr id="38" name="Text 36"/>
          <p:cNvSpPr txBox="1"/>
          <p:nvPr/>
        </p:nvSpPr>
        <p:spPr>
          <a:xfrm>
            <a:off x="548640" y="4754880"/>
            <a:ext cx="11094415" cy="1280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Every choice uses only data available at its forecast date: identification, model orders, safety stock and policy model selection</a:t>
            </a:r>
            <a:endParaRPr lang="en-US" sz="1500" dirty="0"/>
          </a:p>
          <a:p>
            <a:pPr marL="342900" indent="-342900">
              <a:spcAft>
                <a:spcPts val="800"/>
              </a:spcAft>
              <a:buSzPct val="100000"/>
              <a:buChar char="•"/>
            </a:pPr>
            <a:r>
              <a:rPr lang="en-US" sz="1500" dirty="0">
                <a:solidFill>
                  <a:schemeClr val="tx1"/>
                </a:solidFill>
              </a:rPr>
              <a:t>The final four weeks (25 Apr – 22 May 2016) stayed locked until a single pre-registered test</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Eight products chosen to cover every demand pattern</a:t>
            </a:r>
            <a:endParaRPr lang="en-US" sz="3200" dirty="0"/>
          </a:p>
        </p:txBody>
      </p:sp>
      <p:pic>
        <p:nvPicPr>
          <p:cNvPr id="3" name="ADI CV2 chart" descr="C:\Users\sanya\OptiChain\reports\figures\eda\00_adi_cv2_classification.png">    </p:cNvPr>
          <p:cNvPicPr>
            <a:picLocks noChangeAspect="1"/>
          </p:cNvPicPr>
          <p:nvPr/>
        </p:nvPicPr>
        <p:blipFill>
          <a:blip r:embed="rId1"/>
          <a:srcRect l="0" r="0" t="0" b="0"/>
          <a:stretch/>
        </p:blipFill>
        <p:spPr>
          <a:xfrm>
            <a:off x="548640" y="1280160"/>
            <a:ext cx="6583680" cy="4389120"/>
          </a:xfrm>
          <a:prstGeom prst="rect">
            <a:avLst/>
          </a:prstGeom>
        </p:spPr>
      </p:pic>
      <p:sp>
        <p:nvSpPr>
          <p:cNvPr id="4" name="class Steady"/>
          <p:cNvSpPr/>
          <p:nvPr/>
        </p:nvSpPr>
        <p:spPr>
          <a:xfrm>
            <a:off x="7498080" y="1371600"/>
            <a:ext cx="416052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5" name="Text 2"/>
          <p:cNvSpPr txBox="1"/>
          <p:nvPr/>
        </p:nvSpPr>
        <p:spPr>
          <a:xfrm>
            <a:off x="7680960" y="1371600"/>
            <a:ext cx="548640" cy="8686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6" name="Text 3"/>
          <p:cNvSpPr txBox="1"/>
          <p:nvPr/>
        </p:nvSpPr>
        <p:spPr>
          <a:xfrm>
            <a:off x="8321040" y="1371600"/>
            <a:ext cx="3200400" cy="868680"/>
          </a:xfrm>
          <a:prstGeom prst="rect">
            <a:avLst/>
          </a:prstGeom>
          <a:noFill/>
          <a:ln/>
        </p:spPr>
        <p:txBody>
          <a:bodyPr wrap="square" lIns="0" tIns="0" rIns="0" bIns="0" rtlCol="0" anchor="ctr"/>
          <a:lstStyle/>
          <a:p>
            <a:pPr indent="0" marL="0">
              <a:buNone/>
            </a:pPr>
            <a:r>
              <a:rPr lang="en-US" sz="1400" b="1" dirty="0">
                <a:solidFill>
                  <a:schemeClr val="tx2"/>
                </a:solidFill>
              </a:rPr>
              <a:t>Steady
</a:t>
            </a:r>
            <a:pPr indent="0" marL="0">
              <a:buNone/>
            </a:pPr>
            <a:r>
              <a:rPr lang="en-US" sz="1400" dirty="0">
                <a:solidFill>
                  <a:schemeClr val="tx1"/>
                </a:solidFill>
              </a:rPr>
              <a:t>sells daily, similar amounts</a:t>
            </a:r>
            <a:endParaRPr lang="en-US" sz="1400" dirty="0"/>
          </a:p>
        </p:txBody>
      </p:sp>
      <p:sp>
        <p:nvSpPr>
          <p:cNvPr id="7" name="class Spiky"/>
          <p:cNvSpPr/>
          <p:nvPr/>
        </p:nvSpPr>
        <p:spPr>
          <a:xfrm>
            <a:off x="7498080" y="2395728"/>
            <a:ext cx="416052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8" name="Text 5"/>
          <p:cNvSpPr txBox="1"/>
          <p:nvPr/>
        </p:nvSpPr>
        <p:spPr>
          <a:xfrm>
            <a:off x="7680960" y="2395728"/>
            <a:ext cx="548640" cy="8686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9" name="Text 6"/>
          <p:cNvSpPr txBox="1"/>
          <p:nvPr/>
        </p:nvSpPr>
        <p:spPr>
          <a:xfrm>
            <a:off x="8321040" y="2395728"/>
            <a:ext cx="3200400" cy="868680"/>
          </a:xfrm>
          <a:prstGeom prst="rect">
            <a:avLst/>
          </a:prstGeom>
          <a:noFill/>
          <a:ln/>
        </p:spPr>
        <p:txBody>
          <a:bodyPr wrap="square" lIns="0" tIns="0" rIns="0" bIns="0" rtlCol="0" anchor="ctr"/>
          <a:lstStyle/>
          <a:p>
            <a:pPr indent="0" marL="0">
              <a:buNone/>
            </a:pPr>
            <a:r>
              <a:rPr lang="en-US" sz="1400" b="1" dirty="0">
                <a:solidFill>
                  <a:schemeClr val="tx2"/>
                </a:solidFill>
              </a:rPr>
              <a:t>Spiky
</a:t>
            </a:r>
            <a:pPr indent="0" marL="0">
              <a:buNone/>
            </a:pPr>
            <a:r>
              <a:rPr lang="en-US" sz="1400" dirty="0">
                <a:solidFill>
                  <a:schemeClr val="tx1"/>
                </a:solidFill>
              </a:rPr>
              <a:t>sells most days, big swings</a:t>
            </a:r>
            <a:endParaRPr lang="en-US" sz="1400" dirty="0"/>
          </a:p>
        </p:txBody>
      </p:sp>
      <p:sp>
        <p:nvSpPr>
          <p:cNvPr id="10" name="class Occasional"/>
          <p:cNvSpPr/>
          <p:nvPr/>
        </p:nvSpPr>
        <p:spPr>
          <a:xfrm>
            <a:off x="7498080" y="3419856"/>
            <a:ext cx="416052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1" name="Text 8"/>
          <p:cNvSpPr txBox="1"/>
          <p:nvPr/>
        </p:nvSpPr>
        <p:spPr>
          <a:xfrm>
            <a:off x="7680960" y="3419856"/>
            <a:ext cx="548640" cy="8686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12" name="Text 9"/>
          <p:cNvSpPr txBox="1"/>
          <p:nvPr/>
        </p:nvSpPr>
        <p:spPr>
          <a:xfrm>
            <a:off x="8321040" y="3419856"/>
            <a:ext cx="3200400" cy="868680"/>
          </a:xfrm>
          <a:prstGeom prst="rect">
            <a:avLst/>
          </a:prstGeom>
          <a:noFill/>
          <a:ln/>
        </p:spPr>
        <p:txBody>
          <a:bodyPr wrap="square" lIns="0" tIns="0" rIns="0" bIns="0" rtlCol="0" anchor="ctr"/>
          <a:lstStyle/>
          <a:p>
            <a:pPr indent="0" marL="0">
              <a:buNone/>
            </a:pPr>
            <a:r>
              <a:rPr lang="en-US" sz="1400" b="1" dirty="0">
                <a:solidFill>
                  <a:schemeClr val="tx2"/>
                </a:solidFill>
              </a:rPr>
              <a:t>Occasional
</a:t>
            </a:r>
            <a:pPr indent="0" marL="0">
              <a:buNone/>
            </a:pPr>
            <a:r>
              <a:rPr lang="en-US" sz="1400" dirty="0">
                <a:solidFill>
                  <a:schemeClr val="tx1"/>
                </a:solidFill>
              </a:rPr>
              <a:t>many zero days, small sales</a:t>
            </a:r>
            <a:endParaRPr lang="en-US" sz="1400" dirty="0"/>
          </a:p>
        </p:txBody>
      </p:sp>
      <p:sp>
        <p:nvSpPr>
          <p:cNvPr id="13" name="class Unpredictable"/>
          <p:cNvSpPr/>
          <p:nvPr/>
        </p:nvSpPr>
        <p:spPr>
          <a:xfrm>
            <a:off x="7498080" y="4443984"/>
            <a:ext cx="416052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4" name="Text 11"/>
          <p:cNvSpPr txBox="1"/>
          <p:nvPr/>
        </p:nvSpPr>
        <p:spPr>
          <a:xfrm>
            <a:off x="7680960" y="4443984"/>
            <a:ext cx="548640" cy="8686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a:t>
            </a:r>
            <a:endParaRPr lang="en-US" sz="3000" dirty="0"/>
          </a:p>
        </p:txBody>
      </p:sp>
      <p:sp>
        <p:nvSpPr>
          <p:cNvPr id="15" name="Text 12"/>
          <p:cNvSpPr txBox="1"/>
          <p:nvPr/>
        </p:nvSpPr>
        <p:spPr>
          <a:xfrm>
            <a:off x="8321040" y="4443984"/>
            <a:ext cx="3200400" cy="868680"/>
          </a:xfrm>
          <a:prstGeom prst="rect">
            <a:avLst/>
          </a:prstGeom>
          <a:noFill/>
          <a:ln/>
        </p:spPr>
        <p:txBody>
          <a:bodyPr wrap="square" lIns="0" tIns="0" rIns="0" bIns="0" rtlCol="0" anchor="ctr"/>
          <a:lstStyle/>
          <a:p>
            <a:pPr indent="0" marL="0">
              <a:buNone/>
            </a:pPr>
            <a:r>
              <a:rPr lang="en-US" sz="1400" b="1" dirty="0">
                <a:solidFill>
                  <a:schemeClr val="tx2"/>
                </a:solidFill>
              </a:rPr>
              <a:t>Unpredictable
</a:t>
            </a:r>
            <a:pPr indent="0" marL="0">
              <a:buNone/>
            </a:pPr>
            <a:r>
              <a:rPr lang="en-US" sz="1400" dirty="0">
                <a:solidFill>
                  <a:schemeClr val="tx1"/>
                </a:solidFill>
              </a:rPr>
              <a:t>irregular timing and size</a:t>
            </a:r>
            <a:endParaRPr lang="en-US" sz="1400" dirty="0"/>
          </a:p>
        </p:txBody>
      </p:sp>
      <p:sp>
        <p:nvSpPr>
          <p:cNvPr id="16" name="Text 13"/>
          <p:cNvSpPr txBox="1"/>
          <p:nvPr/>
        </p:nvSpPr>
        <p:spPr>
          <a:xfrm>
            <a:off x="548640" y="5760720"/>
            <a:ext cx="6583680" cy="320040"/>
          </a:xfrm>
          <a:prstGeom prst="rect">
            <a:avLst/>
          </a:prstGeom>
          <a:noFill/>
          <a:ln/>
        </p:spPr>
        <p:txBody>
          <a:bodyPr wrap="square" lIns="0" tIns="0" rIns="0" bIns="0" rtlCol="0" anchor="ctr"/>
          <a:lstStyle/>
          <a:p>
            <a:pPr indent="0" marL="0">
              <a:buNone/>
            </a:pPr>
            <a:r>
              <a:rPr lang="en-US" sz="1100" i="1" dirty="0">
                <a:solidFill>
                  <a:schemeClr val="accent5"/>
                </a:solidFill>
              </a:rPr>
              <a:t>Syntetos–Boylan classification of 2,495 items; items with &gt;28-day zero runs (likely stockouts) excluded</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Weekends drive demand; events matter far less</a:t>
            </a:r>
            <a:endParaRPr lang="en-US" sz="3200" dirty="0"/>
          </a:p>
        </p:txBody>
      </p:sp>
      <p:pic>
        <p:nvPicPr>
          <p:cNvPr id="3" name="weekday heatmap" descr="C:\Users\sanya\OptiChain\reports\figures\eda\02_weekday_index_heatmap.png">    </p:cNvPr>
          <p:cNvPicPr>
            <a:picLocks noChangeAspect="1"/>
          </p:cNvPicPr>
          <p:nvPr/>
        </p:nvPicPr>
        <p:blipFill>
          <a:blip r:embed="rId1"/>
          <a:srcRect l="0" r="0" t="0" b="0"/>
          <a:stretch/>
        </p:blipFill>
        <p:spPr>
          <a:xfrm>
            <a:off x="548640" y="1280160"/>
            <a:ext cx="6766560" cy="3291840"/>
          </a:xfrm>
          <a:prstGeom prst="rect">
            <a:avLst/>
          </a:prstGeom>
        </p:spPr>
      </p:pic>
      <p:sp>
        <p:nvSpPr>
          <p:cNvPr id="4" name="insights card"/>
          <p:cNvSpPr/>
          <p:nvPr/>
        </p:nvSpPr>
        <p:spPr>
          <a:xfrm>
            <a:off x="7680960" y="1325880"/>
            <a:ext cx="3977640" cy="4206240"/>
          </a:xfrm>
          <a:prstGeom prst="roundRect">
            <a:avLst>
              <a:gd name="adj" fmla="val 2759"/>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5" name="Text 2"/>
          <p:cNvSpPr txBox="1"/>
          <p:nvPr/>
        </p:nvSpPr>
        <p:spPr>
          <a:xfrm>
            <a:off x="7909560" y="1554480"/>
            <a:ext cx="356616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Weekend sales are 1.1–1.6× an average day for 7 of 8 products</a:t>
            </a:r>
            <a:endParaRPr lang="en-US" sz="1500" dirty="0"/>
          </a:p>
          <a:p>
            <a:pPr marL="342900" indent="-342900">
              <a:spcAft>
                <a:spcPts val="800"/>
              </a:spcAft>
              <a:buSzPct val="100000"/>
              <a:buChar char="•"/>
            </a:pPr>
            <a:r>
              <a:rPr lang="en-US" sz="1500" dirty="0">
                <a:solidFill>
                  <a:schemeClr val="tx1"/>
                </a:solidFill>
              </a:rPr>
              <a:t>Events change sales by only −18% to +9%</a:t>
            </a:r>
            <a:endParaRPr lang="en-US" sz="1500" dirty="0"/>
          </a:p>
          <a:p>
            <a:pPr marL="342900" indent="-342900">
              <a:spcAft>
                <a:spcPts val="800"/>
              </a:spcAft>
              <a:buSzPct val="100000"/>
              <a:buChar char="•"/>
            </a:pPr>
            <a:r>
              <a:rPr lang="en-US" sz="1500" dirty="0">
                <a:solidFill>
                  <a:schemeClr val="tx1"/>
                </a:solidFill>
              </a:rPr>
              <a:t>SNAP days lift food items by 3–14%</a:t>
            </a:r>
            <a:endParaRPr lang="en-US" sz="1500" dirty="0"/>
          </a:p>
          <a:p>
            <a:pPr marL="342900" indent="-342900">
              <a:spcAft>
                <a:spcPts val="800"/>
              </a:spcAft>
              <a:buSzPct val="100000"/>
              <a:buChar char="•"/>
            </a:pPr>
            <a:r>
              <a:rPr lang="en-US" sz="1500" dirty="0">
                <a:solidFill>
                  <a:schemeClr val="tx1"/>
                </a:solidFill>
              </a:rPr>
              <a:t>Christmas: the store is closed, so those zeros are filled for modelling</a:t>
            </a:r>
            <a:endParaRPr lang="en-US" sz="1500" dirty="0"/>
          </a:p>
          <a:p>
            <a:pPr marL="342900" indent="-342900">
              <a:spcAft>
                <a:spcPts val="800"/>
              </a:spcAft>
              <a:buSzPct val="100000"/>
              <a:buChar char="•"/>
            </a:pPr>
            <a:r>
              <a:rPr lang="en-US" sz="1500" dirty="0">
                <a:solidFill>
                  <a:schemeClr val="tx1"/>
                </a:solidFill>
              </a:rPr>
              <a:t>Price is confounded with time, so no causal claims</a:t>
            </a:r>
            <a:endParaRPr lang="en-US" sz="1500" dirty="0"/>
          </a:p>
        </p:txBody>
      </p:sp>
      <p:sp>
        <p:nvSpPr>
          <p:cNvPr id="6" name="Text 3"/>
          <p:cNvSpPr txBox="1"/>
          <p:nvPr/>
        </p:nvSpPr>
        <p:spPr>
          <a:xfrm>
            <a:off x="548640" y="4709160"/>
            <a:ext cx="6766560" cy="320040"/>
          </a:xfrm>
          <a:prstGeom prst="rect">
            <a:avLst/>
          </a:prstGeom>
          <a:noFill/>
          <a:ln/>
        </p:spPr>
        <p:txBody>
          <a:bodyPr wrap="square" lIns="0" tIns="0" rIns="0" bIns="0" rtlCol="0" anchor="ctr"/>
          <a:lstStyle/>
          <a:p>
            <a:pPr indent="0" marL="0">
              <a:buNone/>
            </a:pPr>
            <a:r>
              <a:rPr lang="en-US" sz="1100" i="1" dirty="0">
                <a:solidFill>
                  <a:schemeClr val="accent5"/>
                </a:solidFill>
              </a:rPr>
              <a:t>Weekday index = weekday mean ÷ overall mean (2014–2015)</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Identification: what each series needs before modelling</a:t>
            </a:r>
            <a:endParaRPr lang="en-US" sz="3200" dirty="0"/>
          </a:p>
        </p:txBody>
      </p:sp>
      <p:pic>
        <p:nvPicPr>
          <p:cNvPr id="3" name="ACF PACF" descr="C:\Users\sanya\OptiChain\reports\figures\diagnostics\FOODS_3_586\acf_pacf.png">    </p:cNvPr>
          <p:cNvPicPr>
            <a:picLocks noChangeAspect="1"/>
          </p:cNvPicPr>
          <p:nvPr/>
        </p:nvPicPr>
        <p:blipFill>
          <a:blip r:embed="rId1"/>
          <a:srcRect l="0" r="0" t="0" b="0"/>
          <a:stretch/>
        </p:blipFill>
        <p:spPr>
          <a:xfrm>
            <a:off x="548640" y="1325880"/>
            <a:ext cx="6949440" cy="2286000"/>
          </a:xfrm>
          <a:prstGeom prst="rect">
            <a:avLst/>
          </a:prstGeom>
        </p:spPr>
      </p:pic>
      <p:sp>
        <p:nvSpPr>
          <p:cNvPr id="4" name="Text 1"/>
          <p:cNvSpPr txBox="1"/>
          <p:nvPr/>
        </p:nvSpPr>
        <p:spPr>
          <a:xfrm>
            <a:off x="548640" y="3657600"/>
            <a:ext cx="6949440" cy="320040"/>
          </a:xfrm>
          <a:prstGeom prst="rect">
            <a:avLst/>
          </a:prstGeom>
          <a:noFill/>
          <a:ln/>
        </p:spPr>
        <p:txBody>
          <a:bodyPr wrap="square" lIns="0" tIns="0" rIns="0" bIns="0" rtlCol="0" anchor="ctr"/>
          <a:lstStyle/>
          <a:p>
            <a:pPr indent="0" marL="0">
              <a:buNone/>
            </a:pPr>
            <a:r>
              <a:rPr lang="en-US" sz="1100" i="1" dirty="0">
                <a:solidFill>
                  <a:schemeClr val="accent5"/>
                </a:solidFill>
              </a:rPr>
              <a:t>FOODS_3_586 after log + differencing: spikes at 7, 14, 21… = weekly structure</a:t>
            </a:r>
            <a:endParaRPr lang="en-US" sz="1100" dirty="0"/>
          </a:p>
        </p:txBody>
      </p:sp>
      <p:sp>
        <p:nvSpPr>
          <p:cNvPr id="5" name="badge 1"/>
          <p:cNvSpPr/>
          <p:nvPr/>
        </p:nvSpPr>
        <p:spPr>
          <a:xfrm>
            <a:off x="7772400" y="1371600"/>
            <a:ext cx="420624" cy="420624"/>
          </a:xfrm>
          <a:prstGeom prst="ellipse">
            <a:avLst/>
          </a:prstGeom>
          <a:solidFill>
            <a:schemeClr val="accent1"/>
          </a:solidFill>
          <a:ln w="12700">
            <a:solidFill>
              <a:schemeClr val="accent1"/>
            </a:solidFill>
            <a:prstDash val="solid"/>
          </a:ln>
        </p:spPr>
      </p:sp>
      <p:sp>
        <p:nvSpPr>
          <p:cNvPr id="6" name="Text 3"/>
          <p:cNvSpPr txBox="1"/>
          <p:nvPr/>
        </p:nvSpPr>
        <p:spPr>
          <a:xfrm>
            <a:off x="7772400" y="13716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8321040" y="1325880"/>
            <a:ext cx="3337560" cy="1005840"/>
          </a:xfrm>
          <a:prstGeom prst="rect">
            <a:avLst/>
          </a:prstGeom>
          <a:noFill/>
          <a:ln/>
        </p:spPr>
        <p:txBody>
          <a:bodyPr wrap="square" lIns="0" tIns="0" rIns="0" bIns="0" rtlCol="0" anchor="t"/>
          <a:lstStyle/>
          <a:p>
            <a:pPr indent="0" marL="0">
              <a:buNone/>
            </a:pPr>
            <a:r>
              <a:rPr lang="en-US" sz="1350" b="1" dirty="0">
                <a:solidFill>
                  <a:schemeClr val="tx2"/>
                </a:solidFill>
              </a:rPr>
              <a:t>No seasonal differencing
</a:t>
            </a:r>
            <a:pPr indent="0" marL="0">
              <a:buNone/>
            </a:pPr>
            <a:r>
              <a:rPr lang="en-US" sz="1350" dirty="0">
                <a:solidFill>
                  <a:schemeClr val="tx1"/>
                </a:solidFill>
              </a:rPr>
              <a:t>Daily noise is larger than the weekly pattern (Fs ≤ 0.59), so seasonal AR/MA terms are used instead</a:t>
            </a:r>
            <a:endParaRPr lang="en-US" sz="1350" dirty="0"/>
          </a:p>
        </p:txBody>
      </p:sp>
      <p:sp>
        <p:nvSpPr>
          <p:cNvPr id="8" name="badge 2"/>
          <p:cNvSpPr/>
          <p:nvPr/>
        </p:nvSpPr>
        <p:spPr>
          <a:xfrm>
            <a:off x="7772400" y="2468880"/>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0" y="24688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8321040" y="2423160"/>
            <a:ext cx="3337560" cy="1005840"/>
          </a:xfrm>
          <a:prstGeom prst="rect">
            <a:avLst/>
          </a:prstGeom>
          <a:noFill/>
          <a:ln/>
        </p:spPr>
        <p:txBody>
          <a:bodyPr wrap="square" lIns="0" tIns="0" rIns="0" bIns="0" rtlCol="0" anchor="t"/>
          <a:lstStyle/>
          <a:p>
            <a:pPr indent="0" marL="0">
              <a:buNone/>
            </a:pPr>
            <a:r>
              <a:rPr lang="en-US" sz="1350" b="1" dirty="0">
                <a:solidFill>
                  <a:schemeClr val="tx2"/>
                </a:solidFill>
              </a:rPr>
              <a:t>One clear unit root
</a:t>
            </a:r>
            <a:pPr indent="0" marL="0">
              <a:buNone/>
            </a:pPr>
            <a:r>
              <a:rPr lang="en-US" sz="1350" dirty="0">
                <a:solidFill>
                  <a:schemeClr val="tx1"/>
                </a:solidFill>
              </a:rPr>
              <a:t>FOODS_3_586: log transform and first difference</a:t>
            </a:r>
            <a:endParaRPr lang="en-US" sz="1350" dirty="0"/>
          </a:p>
        </p:txBody>
      </p:sp>
      <p:sp>
        <p:nvSpPr>
          <p:cNvPr id="11" name="badge 3"/>
          <p:cNvSpPr/>
          <p:nvPr/>
        </p:nvSpPr>
        <p:spPr>
          <a:xfrm>
            <a:off x="7772400" y="3566160"/>
            <a:ext cx="420624" cy="420624"/>
          </a:xfrm>
          <a:prstGeom prst="ellipse">
            <a:avLst/>
          </a:prstGeom>
          <a:solidFill>
            <a:schemeClr val="accent1"/>
          </a:solidFill>
          <a:ln w="12700">
            <a:solidFill>
              <a:schemeClr val="accent1"/>
            </a:solidFill>
            <a:prstDash val="solid"/>
          </a:ln>
        </p:spPr>
      </p:sp>
      <p:sp>
        <p:nvSpPr>
          <p:cNvPr id="12" name="Text 9"/>
          <p:cNvSpPr txBox="1"/>
          <p:nvPr/>
        </p:nvSpPr>
        <p:spPr>
          <a:xfrm>
            <a:off x="7772400" y="35661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8321040" y="3520440"/>
            <a:ext cx="3337560" cy="1005840"/>
          </a:xfrm>
          <a:prstGeom prst="rect">
            <a:avLst/>
          </a:prstGeom>
          <a:noFill/>
          <a:ln/>
        </p:spPr>
        <p:txBody>
          <a:bodyPr wrap="square" lIns="0" tIns="0" rIns="0" bIns="0" rtlCol="0" anchor="t"/>
          <a:lstStyle/>
          <a:p>
            <a:pPr indent="0" marL="0">
              <a:buNone/>
            </a:pPr>
            <a:r>
              <a:rPr lang="en-US" sz="1350" b="1" dirty="0">
                <a:solidFill>
                  <a:schemeClr val="tx2"/>
                </a:solidFill>
              </a:rPr>
              <a:t>Ambiguous cases tested on data
</a:t>
            </a:r>
            <a:pPr indent="0" marL="0">
              <a:buNone/>
            </a:pPr>
            <a:r>
              <a:rPr lang="en-US" sz="1350" dirty="0">
                <a:solidFill>
                  <a:schemeClr val="tx1"/>
                </a:solidFill>
              </a:rPr>
              <a:t>ADF/KPSS conflicts → both options tried on held-back days</a:t>
            </a:r>
            <a:endParaRPr lang="en-US" sz="1350" dirty="0"/>
          </a:p>
        </p:txBody>
      </p:sp>
      <p:sp>
        <p:nvSpPr>
          <p:cNvPr id="14" name="badge 4"/>
          <p:cNvSpPr/>
          <p:nvPr/>
        </p:nvSpPr>
        <p:spPr>
          <a:xfrm>
            <a:off x="7772400" y="4663440"/>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772400" y="46634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3"/>
          <p:cNvSpPr txBox="1"/>
          <p:nvPr/>
        </p:nvSpPr>
        <p:spPr>
          <a:xfrm>
            <a:off x="8321040" y="4617720"/>
            <a:ext cx="3337560" cy="1005840"/>
          </a:xfrm>
          <a:prstGeom prst="rect">
            <a:avLst/>
          </a:prstGeom>
          <a:noFill/>
          <a:ln/>
        </p:spPr>
        <p:txBody>
          <a:bodyPr wrap="square" lIns="0" tIns="0" rIns="0" bIns="0" rtlCol="0" anchor="t"/>
          <a:lstStyle/>
          <a:p>
            <a:pPr indent="0" marL="0">
              <a:buNone/>
            </a:pPr>
            <a:r>
              <a:rPr lang="en-US" sz="1350" b="1" dirty="0">
                <a:solidFill>
                  <a:schemeClr val="tx2"/>
                </a:solidFill>
              </a:rPr>
              <a:t>Two series are white noise
</a:t>
            </a:r>
            <a:pPr indent="0" marL="0">
              <a:buNone/>
            </a:pPr>
            <a:r>
              <a:rPr lang="en-US" sz="1350" dirty="0">
                <a:solidFill>
                  <a:schemeClr val="tx1"/>
                </a:solidFill>
              </a:rPr>
              <a:t>Little to gain beyond a good average</a:t>
            </a:r>
            <a:endParaRPr lang="en-US" sz="13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ETS and SARIMA forecast about 21% better</a:t>
            </a:r>
            <a:endParaRPr lang="en-US" sz="3200" dirty="0"/>
          </a:p>
        </p:txBody>
      </p:sp>
      <p:graphicFrame>
        <p:nvGraphicFramePr>
          <p:cNvPr id="3" name="accuracy chart" descr=""/>
          <p:cNvGraphicFramePr/>
          <p:nvPr/>
        </p:nvGraphicFramePr>
        <p:xfrm>
          <a:off x="548640" y="1280160"/>
          <a:ext cx="7315200" cy="4572000"/>
        </p:xfrm>
        <a:graphic xmlns:a="http://schemas.openxmlformats.org/drawingml/2006/main">
          <a:graphicData uri="http://schemas.openxmlformats.org/drawingml/2006/chart">
            <c:chart xmlns:c="http://schemas.openxmlformats.org/drawingml/2006/chart" r:id="rId1"/>
          </a:graphicData>
        </a:graphic>
      </p:graphicFrame>
      <p:sp>
        <p:nvSpPr>
          <p:cNvPr id="4" name="accuracy callouts"/>
          <p:cNvSpPr/>
          <p:nvPr/>
        </p:nvSpPr>
        <p:spPr>
          <a:xfrm>
            <a:off x="8183880" y="1325880"/>
            <a:ext cx="3474720" cy="4526280"/>
          </a:xfrm>
          <a:prstGeom prst="roundRect">
            <a:avLst>
              <a:gd name="adj" fmla="val 3158"/>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5" name="Text 2"/>
          <p:cNvSpPr txBox="1"/>
          <p:nvPr/>
        </p:nvSpPr>
        <p:spPr>
          <a:xfrm>
            <a:off x="8412480" y="1417320"/>
            <a:ext cx="3108960" cy="73152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0.773</a:t>
            </a:r>
            <a:endParaRPr lang="en-US" sz="3600" dirty="0"/>
          </a:p>
        </p:txBody>
      </p:sp>
      <p:sp>
        <p:nvSpPr>
          <p:cNvPr id="6" name="Text 3"/>
          <p:cNvSpPr txBox="1"/>
          <p:nvPr/>
        </p:nvSpPr>
        <p:spPr>
          <a:xfrm>
            <a:off x="8412480" y="2194560"/>
            <a:ext cx="3108960" cy="685800"/>
          </a:xfrm>
          <a:prstGeom prst="rect">
            <a:avLst/>
          </a:prstGeom>
          <a:noFill/>
          <a:ln/>
        </p:spPr>
        <p:txBody>
          <a:bodyPr wrap="square" lIns="0" tIns="0" rIns="0" bIns="0" rtlCol="0" anchor="t"/>
          <a:lstStyle/>
          <a:p>
            <a:pPr indent="0" marL="0">
              <a:buNone/>
            </a:pPr>
            <a:r>
              <a:rPr lang="en-US" sz="1400" dirty="0">
                <a:solidFill>
                  <a:schemeClr val="tx1"/>
                </a:solidFill>
              </a:rPr>
              <a:t>ETS mean RMSSE in the backtest (best on 6 of 8)</a:t>
            </a:r>
            <a:endParaRPr lang="en-US" sz="1400" dirty="0"/>
          </a:p>
        </p:txBody>
      </p:sp>
      <p:sp>
        <p:nvSpPr>
          <p:cNvPr id="7" name="Text 4"/>
          <p:cNvSpPr txBox="1"/>
          <p:nvPr/>
        </p:nvSpPr>
        <p:spPr>
          <a:xfrm>
            <a:off x="8412480" y="2880360"/>
            <a:ext cx="3108960" cy="73152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82–84%</a:t>
            </a:r>
            <a:endParaRPr lang="en-US" sz="3600" dirty="0"/>
          </a:p>
        </p:txBody>
      </p:sp>
      <p:sp>
        <p:nvSpPr>
          <p:cNvPr id="8" name="Text 5"/>
          <p:cNvSpPr txBox="1"/>
          <p:nvPr/>
        </p:nvSpPr>
        <p:spPr>
          <a:xfrm>
            <a:off x="8412480" y="3657600"/>
            <a:ext cx="3108960" cy="685800"/>
          </a:xfrm>
          <a:prstGeom prst="rect">
            <a:avLst/>
          </a:prstGeom>
          <a:noFill/>
          <a:ln/>
        </p:spPr>
        <p:txBody>
          <a:bodyPr wrap="square" lIns="0" tIns="0" rIns="0" bIns="0" rtlCol="0" anchor="t"/>
          <a:lstStyle/>
          <a:p>
            <a:pPr indent="0" marL="0">
              <a:buNone/>
            </a:pPr>
            <a:r>
              <a:rPr lang="en-US" sz="1400" dirty="0">
                <a:solidFill>
                  <a:schemeClr val="tx1"/>
                </a:solidFill>
              </a:rPr>
              <a:t>of actuals fall inside the 80% prediction interval</a:t>
            </a:r>
            <a:endParaRPr lang="en-US" sz="1400" dirty="0"/>
          </a:p>
        </p:txBody>
      </p:sp>
      <p:sp>
        <p:nvSpPr>
          <p:cNvPr id="9" name="Text 6"/>
          <p:cNvSpPr txBox="1"/>
          <p:nvPr/>
        </p:nvSpPr>
        <p:spPr>
          <a:xfrm>
            <a:off x="8412480" y="4389120"/>
            <a:ext cx="3108960" cy="1280160"/>
          </a:xfrm>
          <a:prstGeom prst="rect">
            <a:avLst/>
          </a:prstGeom>
          <a:noFill/>
          <a:ln/>
        </p:spPr>
        <p:txBody>
          <a:bodyPr wrap="square" lIns="0" tIns="0" rIns="0" bIns="0" rtlCol="0" anchor="t"/>
          <a:lstStyle/>
          <a:p>
            <a:pPr indent="0" marL="0">
              <a:buNone/>
            </a:pPr>
            <a:r>
              <a:rPr lang="en-US" sz="1300" dirty="0">
                <a:solidFill>
                  <a:schemeClr val="tx1"/>
                </a:solidFill>
              </a:rPr>
              <a:t>Every fitted model beats both naive benchmarks; the ETS–SARIMA gap (&lt;1%) is within noise</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What a forecast looks like</a:t>
            </a:r>
            <a:endParaRPr lang="en-US" sz="3200" dirty="0"/>
          </a:p>
        </p:txBody>
      </p:sp>
      <p:pic>
        <p:nvPicPr>
          <p:cNvPr id="3" name="forecast example" descr="C:\Users\sanya\OptiChain\reports\figures\final\forecast_example.png">    </p:cNvPr>
          <p:cNvPicPr>
            <a:picLocks noChangeAspect="1"/>
          </p:cNvPicPr>
          <p:nvPr/>
        </p:nvPicPr>
        <p:blipFill>
          <a:blip r:embed="rId1"/>
          <a:srcRect l="0" r="0" t="0" b="0"/>
          <a:stretch/>
        </p:blipFill>
        <p:spPr>
          <a:xfrm>
            <a:off x="548640" y="1280160"/>
            <a:ext cx="7680960" cy="2926080"/>
          </a:xfrm>
          <a:prstGeom prst="rect">
            <a:avLst/>
          </a:prstGeom>
        </p:spPr>
      </p:pic>
      <p:sp>
        <p:nvSpPr>
          <p:cNvPr id="4" name="example notes"/>
          <p:cNvSpPr/>
          <p:nvPr/>
        </p:nvSpPr>
        <p:spPr>
          <a:xfrm>
            <a:off x="8503920" y="1325880"/>
            <a:ext cx="3154680" cy="420624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5" name="Text 2"/>
          <p:cNvSpPr txBox="1"/>
          <p:nvPr/>
        </p:nvSpPr>
        <p:spPr>
          <a:xfrm>
            <a:off x="8732520" y="1554480"/>
            <a:ext cx="2743200" cy="3840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ETS follows the weekend peaks at a smoothed height</a:t>
            </a:r>
            <a:endParaRPr lang="en-US" sz="1400" dirty="0"/>
          </a:p>
          <a:p>
            <a:pPr marL="342900" indent="-342900">
              <a:spcAft>
                <a:spcPts val="800"/>
              </a:spcAft>
              <a:buSzPct val="100000"/>
              <a:buChar char="•"/>
            </a:pPr>
            <a:r>
              <a:rPr lang="en-US" sz="1400" dirty="0">
                <a:solidFill>
                  <a:schemeClr val="tx1"/>
                </a:solidFill>
              </a:rPr>
              <a:t>Seasonal naive copies one noisy week</a:t>
            </a:r>
            <a:endParaRPr lang="en-US" sz="1400" dirty="0"/>
          </a:p>
          <a:p>
            <a:pPr marL="342900" indent="-342900">
              <a:spcAft>
                <a:spcPts val="800"/>
              </a:spcAft>
              <a:buSzPct val="100000"/>
              <a:buChar char="•"/>
            </a:pPr>
            <a:r>
              <a:rPr lang="en-US" sz="1400" dirty="0">
                <a:solidFill>
                  <a:schemeClr val="tx1"/>
                </a:solidFill>
              </a:rPr>
              <a:t>Actual sales mostly stay inside the shaded 80% band</a:t>
            </a:r>
            <a:endParaRPr lang="en-US" sz="1400" dirty="0"/>
          </a:p>
          <a:p>
            <a:pPr marL="342900" indent="-342900">
              <a:spcAft>
                <a:spcPts val="800"/>
              </a:spcAft>
              <a:buSzPct val="100000"/>
              <a:buChar char="•"/>
            </a:pPr>
            <a:r>
              <a:rPr lang="en-US" sz="1400" dirty="0">
                <a:solidFill>
                  <a:schemeClr val="tx1"/>
                </a:solidFill>
              </a:rPr>
              <a:t>Model orders and settings were chosen without seeing this month</a:t>
            </a:r>
            <a:endParaRPr lang="en-US" sz="1400" dirty="0"/>
          </a:p>
        </p:txBody>
      </p:sp>
      <p:sp>
        <p:nvSpPr>
          <p:cNvPr id="6" name="Text 3"/>
          <p:cNvSpPr txBox="1"/>
          <p:nvPr/>
        </p:nvSpPr>
        <p:spPr>
          <a:xfrm>
            <a:off x="548640" y="4297680"/>
            <a:ext cx="7680960" cy="320040"/>
          </a:xfrm>
          <a:prstGeom prst="rect">
            <a:avLst/>
          </a:prstGeom>
          <a:noFill/>
          <a:ln/>
        </p:spPr>
        <p:txBody>
          <a:bodyPr wrap="square" lIns="0" tIns="0" rIns="0" bIns="0" rtlCol="0" anchor="ctr"/>
          <a:lstStyle/>
          <a:p>
            <a:pPr indent="0" marL="0">
              <a:buNone/>
            </a:pPr>
            <a:r>
              <a:rPr lang="en-US" sz="1100" i="1" dirty="0">
                <a:solidFill>
                  <a:schemeClr val="accent5"/>
                </a:solidFill>
              </a:rPr>
              <a:t>FOODS_3_586, 28-day forecast made on 27 March 2016 vs held-out actuals</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Model checks pass; volatility modelling is not needed</a:t>
            </a:r>
            <a:endParaRPr lang="en-US" sz="3200" dirty="0"/>
          </a:p>
        </p:txBody>
      </p:sp>
      <p:sp>
        <p:nvSpPr>
          <p:cNvPr id="3" name="check 1"/>
          <p:cNvSpPr/>
          <p:nvPr/>
        </p:nvSpPr>
        <p:spPr>
          <a:xfrm>
            <a:off x="548640" y="1371600"/>
            <a:ext cx="3520440" cy="182880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4" name="Text 2"/>
          <p:cNvSpPr txBox="1"/>
          <p:nvPr/>
        </p:nvSpPr>
        <p:spPr>
          <a:xfrm>
            <a:off x="822960" y="1463040"/>
            <a:ext cx="3017520" cy="731520"/>
          </a:xfrm>
          <a:prstGeom prst="rect">
            <a:avLst/>
          </a:prstGeom>
          <a:noFill/>
          <a:ln/>
        </p:spPr>
        <p:txBody>
          <a:bodyPr wrap="square" lIns="0" tIns="0" rIns="0" bIns="0" rtlCol="0" anchor="b"/>
          <a:lstStyle/>
          <a:p>
            <a:pPr indent="0" marL="0">
              <a:buNone/>
            </a:pPr>
            <a:r>
              <a:rPr lang="en-US" sz="3800" b="1" dirty="0">
                <a:solidFill>
                  <a:schemeClr val="accent3"/>
                </a:solidFill>
                <a:latin typeface="Cambria" pitchFamily="34" charset="0"/>
                <a:ea typeface="Cambria" pitchFamily="34" charset="-122"/>
                <a:cs typeface="Cambria" pitchFamily="34" charset="-120"/>
              </a:rPr>
              <a:t>32 / 32</a:t>
            </a:r>
            <a:endParaRPr lang="en-US" sz="3800" dirty="0"/>
          </a:p>
        </p:txBody>
      </p:sp>
      <p:sp>
        <p:nvSpPr>
          <p:cNvPr id="5" name="Text 3"/>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400" dirty="0">
                <a:solidFill>
                  <a:schemeClr val="tx1"/>
                </a:solidFill>
              </a:rPr>
              <a:t>fits with no systematic bias</a:t>
            </a:r>
            <a:endParaRPr lang="en-US" sz="1400" dirty="0"/>
          </a:p>
        </p:txBody>
      </p:sp>
      <p:sp>
        <p:nvSpPr>
          <p:cNvPr id="6" name="check 2"/>
          <p:cNvSpPr/>
          <p:nvPr/>
        </p:nvSpPr>
        <p:spPr>
          <a:xfrm>
            <a:off x="4297680" y="1371600"/>
            <a:ext cx="3520440" cy="182880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7" name="Text 5"/>
          <p:cNvSpPr txBox="1"/>
          <p:nvPr/>
        </p:nvSpPr>
        <p:spPr>
          <a:xfrm>
            <a:off x="4572000" y="1463040"/>
            <a:ext cx="3017520" cy="731520"/>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0.096</a:t>
            </a:r>
            <a:endParaRPr lang="en-US" sz="3800" dirty="0"/>
          </a:p>
        </p:txBody>
      </p:sp>
      <p:sp>
        <p:nvSpPr>
          <p:cNvPr id="8" name="Text 6"/>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400" dirty="0">
                <a:solidFill>
                  <a:schemeClr val="tx1"/>
                </a:solidFill>
              </a:rPr>
              <a:t>largest leftover correlation in errors (tiny)</a:t>
            </a:r>
            <a:endParaRPr lang="en-US" sz="1400" dirty="0"/>
          </a:p>
        </p:txBody>
      </p:sp>
      <p:sp>
        <p:nvSpPr>
          <p:cNvPr id="9" name="check 3"/>
          <p:cNvSpPr/>
          <p:nvPr/>
        </p:nvSpPr>
        <p:spPr>
          <a:xfrm>
            <a:off x="8046720" y="1371600"/>
            <a:ext cx="3520440" cy="182880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0" name="Text 8"/>
          <p:cNvSpPr txBox="1"/>
          <p:nvPr/>
        </p:nvSpPr>
        <p:spPr>
          <a:xfrm>
            <a:off x="8321040" y="1463040"/>
            <a:ext cx="3017520" cy="731520"/>
          </a:xfrm>
          <a:prstGeom prst="rect">
            <a:avLst/>
          </a:prstGeom>
          <a:noFill/>
          <a:ln/>
        </p:spPr>
        <p:txBody>
          <a:bodyPr wrap="square" lIns="0" tIns="0" rIns="0" bIns="0" rtlCol="0" anchor="b"/>
          <a:lstStyle/>
          <a:p>
            <a:pPr indent="0" marL="0">
              <a:buNone/>
            </a:pPr>
            <a:r>
              <a:rPr lang="en-US" sz="3800" b="1" dirty="0">
                <a:solidFill>
                  <a:schemeClr val="accent2"/>
                </a:solidFill>
                <a:latin typeface="Cambria" pitchFamily="34" charset="0"/>
                <a:ea typeface="Cambria" pitchFamily="34" charset="-122"/>
                <a:cs typeface="Cambria" pitchFamily="34" charset="-120"/>
              </a:rPr>
              <a:t>≤ 2.4%</a:t>
            </a:r>
            <a:endParaRPr lang="en-US" sz="3800" dirty="0"/>
          </a:p>
        </p:txBody>
      </p:sp>
      <p:sp>
        <p:nvSpPr>
          <p:cNvPr id="11" name="Text 9"/>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400" dirty="0">
                <a:solidFill>
                  <a:schemeClr val="tx1"/>
                </a:solidFill>
              </a:rPr>
              <a:t>interval gain from GARCH, and worse for SARIMA</a:t>
            </a:r>
            <a:endParaRPr lang="en-US" sz="1400" dirty="0"/>
          </a:p>
        </p:txBody>
      </p:sp>
      <p:sp>
        <p:nvSpPr>
          <p:cNvPr id="12" name="Text 10"/>
          <p:cNvSpPr txBox="1"/>
          <p:nvPr/>
        </p:nvSpPr>
        <p:spPr>
          <a:xfrm>
            <a:off x="548640" y="3520440"/>
            <a:ext cx="11094415"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Ljung–Box flags small leftover weekly structure in about half the fits; with ~700 points, tiny effects become 'significant'</a:t>
            </a:r>
            <a:endParaRPr lang="en-US" sz="1500" dirty="0"/>
          </a:p>
          <a:p>
            <a:pPr marL="342900" indent="-342900">
              <a:spcAft>
                <a:spcPts val="800"/>
              </a:spcAft>
              <a:buSzPct val="100000"/>
              <a:buChar char="•"/>
            </a:pPr>
            <a:r>
              <a:rPr lang="en-US" sz="1500" dirty="0">
                <a:solidFill>
                  <a:schemeClr val="tx1"/>
                </a:solidFill>
              </a:rPr>
              <a:t>ARCH-LM finds volatility clustering in only 3 high-volume series</a:t>
            </a:r>
            <a:endParaRPr lang="en-US" sz="1500" dirty="0"/>
          </a:p>
          <a:p>
            <a:pPr marL="342900" indent="-342900">
              <a:spcAft>
                <a:spcPts val="800"/>
              </a:spcAft>
              <a:buSzPct val="100000"/>
              <a:buChar char="•"/>
            </a:pPr>
            <a:r>
              <a:rPr lang="en-US" sz="1500" dirty="0">
                <a:solidFill>
                  <a:schemeClr val="tx1"/>
                </a:solidFill>
              </a:rPr>
              <a:t>GARCH(1,1) α is small and mostly insignificant, so it is not adopted (a valid negative result)</a:t>
            </a:r>
            <a:endParaRPr lang="en-US" sz="1500" dirty="0"/>
          </a:p>
          <a:p>
            <a:pPr marL="342900" indent="-342900">
              <a:spcAft>
                <a:spcPts val="800"/>
              </a:spcAft>
              <a:buSzPct val="100000"/>
              <a:buChar char="•"/>
            </a:pPr>
            <a:r>
              <a:rPr lang="en-US" sz="1500" dirty="0">
                <a:solidFill>
                  <a:schemeClr val="tx1"/>
                </a:solidFill>
              </a:rPr>
              <a:t>What matters for stock is heavy tails (big spikes), not volatility waves</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Three ways to decide when and how much to reorder</a:t>
            </a:r>
            <a:endParaRPr lang="en-US" sz="3200" dirty="0"/>
          </a:p>
        </p:txBody>
      </p:sp>
      <p:sp>
        <p:nvSpPr>
          <p:cNvPr id="3" name="policy 1"/>
          <p:cNvSpPr/>
          <p:nvPr/>
        </p:nvSpPr>
        <p:spPr>
          <a:xfrm>
            <a:off x="548640" y="1371600"/>
            <a:ext cx="2624328" cy="3246120"/>
          </a:xfrm>
          <a:prstGeom prst="roundRect">
            <a:avLst>
              <a:gd name="adj" fmla="val 4181"/>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4" name="Text 2"/>
          <p:cNvSpPr txBox="1"/>
          <p:nvPr/>
        </p:nvSpPr>
        <p:spPr>
          <a:xfrm>
            <a:off x="777240" y="1554480"/>
            <a:ext cx="2194560" cy="457200"/>
          </a:xfrm>
          <a:prstGeom prst="rect">
            <a:avLst/>
          </a:prstGeom>
          <a:noFill/>
          <a:ln/>
        </p:spPr>
        <p:txBody>
          <a:bodyPr wrap="square" lIns="0" tIns="0" rIns="0" bIns="0" rtlCol="0" anchor="ctr"/>
          <a:lstStyle/>
          <a:p>
            <a:pPr indent="0" marL="0">
              <a:buNone/>
            </a:pPr>
            <a:r>
              <a:rPr lang="en-US" sz="1600" b="1" dirty="0">
                <a:solidFill>
                  <a:schemeClr val="accent2"/>
                </a:solidFill>
              </a:rPr>
              <a:t>Simple rule (P0)</a:t>
            </a:r>
            <a:endParaRPr lang="en-US" sz="1600" dirty="0"/>
          </a:p>
        </p:txBody>
      </p:sp>
      <p:sp>
        <p:nvSpPr>
          <p:cNvPr id="5" name="Text 3"/>
          <p:cNvSpPr txBox="1"/>
          <p:nvPr/>
        </p:nvSpPr>
        <p:spPr>
          <a:xfrm>
            <a:off x="777240" y="2057400"/>
            <a:ext cx="2194560" cy="1371600"/>
          </a:xfrm>
          <a:prstGeom prst="rect">
            <a:avLst/>
          </a:prstGeom>
          <a:noFill/>
          <a:ln/>
        </p:spPr>
        <p:txBody>
          <a:bodyPr wrap="square" lIns="0" tIns="0" rIns="0" bIns="0" rtlCol="0" anchor="t"/>
          <a:lstStyle/>
          <a:p>
            <a:pPr indent="0" marL="0">
              <a:buNone/>
            </a:pPr>
            <a:r>
              <a:rPr lang="en-US" sz="1300" dirty="0">
                <a:solidFill>
                  <a:schemeClr val="tx1"/>
                </a:solidFill>
              </a:rPr>
              <a:t>Last 28 days' average × lead time + safety buffer</a:t>
            </a:r>
            <a:endParaRPr lang="en-US" sz="1300" dirty="0"/>
          </a:p>
        </p:txBody>
      </p:sp>
      <p:sp>
        <p:nvSpPr>
          <p:cNvPr id="6" name="Text 4"/>
          <p:cNvSpPr txBox="1"/>
          <p:nvPr/>
        </p:nvSpPr>
        <p:spPr>
          <a:xfrm>
            <a:off x="777240" y="3520440"/>
            <a:ext cx="2194560" cy="64008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$674</a:t>
            </a:r>
            <a:endParaRPr lang="en-US" sz="3200" dirty="0"/>
          </a:p>
        </p:txBody>
      </p:sp>
      <p:sp>
        <p:nvSpPr>
          <p:cNvPr id="7" name="Text 5"/>
          <p:cNvSpPr txBox="1"/>
          <p:nvPr/>
        </p:nvSpPr>
        <p:spPr>
          <a:xfrm>
            <a:off x="777240" y="4160520"/>
            <a:ext cx="2194560" cy="320040"/>
          </a:xfrm>
          <a:prstGeom prst="rect">
            <a:avLst/>
          </a:prstGeom>
          <a:noFill/>
          <a:ln/>
        </p:spPr>
        <p:txBody>
          <a:bodyPr wrap="square" lIns="0" tIns="0" rIns="0" bIns="0" rtlCol="0" anchor="ctr"/>
          <a:lstStyle/>
          <a:p>
            <a:pPr indent="0" marL="0">
              <a:buNone/>
            </a:pPr>
            <a:r>
              <a:rPr lang="en-US" sz="1100" dirty="0">
                <a:solidFill>
                  <a:schemeClr val="accent5"/>
                </a:solidFill>
              </a:rPr>
              <a:t>total cost, 8 products</a:t>
            </a:r>
            <a:endParaRPr lang="en-US" sz="1100" dirty="0"/>
          </a:p>
        </p:txBody>
      </p:sp>
      <p:sp>
        <p:nvSpPr>
          <p:cNvPr id="8" name="policy 2"/>
          <p:cNvSpPr/>
          <p:nvPr/>
        </p:nvSpPr>
        <p:spPr>
          <a:xfrm>
            <a:off x="3355848" y="1371600"/>
            <a:ext cx="2624328" cy="3246120"/>
          </a:xfrm>
          <a:prstGeom prst="roundRect">
            <a:avLst>
              <a:gd name="adj" fmla="val 4181"/>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9" name="Text 7"/>
          <p:cNvSpPr txBox="1"/>
          <p:nvPr/>
        </p:nvSpPr>
        <p:spPr>
          <a:xfrm>
            <a:off x="3584448" y="1554480"/>
            <a:ext cx="2194560" cy="457200"/>
          </a:xfrm>
          <a:prstGeom prst="rect">
            <a:avLst/>
          </a:prstGeom>
          <a:noFill/>
          <a:ln/>
        </p:spPr>
        <p:txBody>
          <a:bodyPr wrap="square" lIns="0" tIns="0" rIns="0" bIns="0" rtlCol="0" anchor="ctr"/>
          <a:lstStyle/>
          <a:p>
            <a:pPr indent="0" marL="0">
              <a:buNone/>
            </a:pPr>
            <a:r>
              <a:rPr lang="en-US" sz="1600" b="1" dirty="0">
                <a:solidFill>
                  <a:schemeClr val="accent1"/>
                </a:solidFill>
              </a:rPr>
              <a:t>Forecast-driven (P1)</a:t>
            </a:r>
            <a:endParaRPr lang="en-US" sz="1600" dirty="0"/>
          </a:p>
        </p:txBody>
      </p:sp>
      <p:sp>
        <p:nvSpPr>
          <p:cNvPr id="10" name="Text 8"/>
          <p:cNvSpPr txBox="1"/>
          <p:nvPr/>
        </p:nvSpPr>
        <p:spPr>
          <a:xfrm>
            <a:off x="3584448" y="2057400"/>
            <a:ext cx="2194560" cy="1371600"/>
          </a:xfrm>
          <a:prstGeom prst="rect">
            <a:avLst/>
          </a:prstGeom>
          <a:noFill/>
          <a:ln/>
        </p:spPr>
        <p:txBody>
          <a:bodyPr wrap="square" lIns="0" tIns="0" rIns="0" bIns="0" rtlCol="0" anchor="t"/>
          <a:lstStyle/>
          <a:p>
            <a:pPr indent="0" marL="0">
              <a:buNone/>
            </a:pPr>
            <a:r>
              <a:rPr lang="en-US" sz="1300" dirty="0">
                <a:solidFill>
                  <a:schemeClr val="tx1"/>
                </a:solidFill>
              </a:rPr>
              <a:t>Sum of forecasts over the lead time + buffer from model errors</a:t>
            </a:r>
            <a:endParaRPr lang="en-US" sz="1300" dirty="0"/>
          </a:p>
        </p:txBody>
      </p:sp>
      <p:sp>
        <p:nvSpPr>
          <p:cNvPr id="11" name="Text 9"/>
          <p:cNvSpPr txBox="1"/>
          <p:nvPr/>
        </p:nvSpPr>
        <p:spPr>
          <a:xfrm>
            <a:off x="3584448" y="3520440"/>
            <a:ext cx="219456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$600</a:t>
            </a:r>
            <a:endParaRPr lang="en-US" sz="3200" dirty="0"/>
          </a:p>
        </p:txBody>
      </p:sp>
      <p:sp>
        <p:nvSpPr>
          <p:cNvPr id="12" name="Text 10"/>
          <p:cNvSpPr txBox="1"/>
          <p:nvPr/>
        </p:nvSpPr>
        <p:spPr>
          <a:xfrm>
            <a:off x="3584448" y="4160520"/>
            <a:ext cx="2194560" cy="320040"/>
          </a:xfrm>
          <a:prstGeom prst="rect">
            <a:avLst/>
          </a:prstGeom>
          <a:noFill/>
          <a:ln/>
        </p:spPr>
        <p:txBody>
          <a:bodyPr wrap="square" lIns="0" tIns="0" rIns="0" bIns="0" rtlCol="0" anchor="ctr"/>
          <a:lstStyle/>
          <a:p>
            <a:pPr indent="0" marL="0">
              <a:buNone/>
            </a:pPr>
            <a:r>
              <a:rPr lang="en-US" sz="1100" dirty="0">
                <a:solidFill>
                  <a:schemeClr val="accent5"/>
                </a:solidFill>
              </a:rPr>
              <a:t>total cost, 8 products</a:t>
            </a:r>
            <a:endParaRPr lang="en-US" sz="1100" dirty="0"/>
          </a:p>
        </p:txBody>
      </p:sp>
      <p:sp>
        <p:nvSpPr>
          <p:cNvPr id="13" name="policy 3"/>
          <p:cNvSpPr/>
          <p:nvPr/>
        </p:nvSpPr>
        <p:spPr>
          <a:xfrm>
            <a:off x="6163056" y="1371600"/>
            <a:ext cx="2624328" cy="3246120"/>
          </a:xfrm>
          <a:prstGeom prst="roundRect">
            <a:avLst>
              <a:gd name="adj" fmla="val 4181"/>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4" name="Text 12"/>
          <p:cNvSpPr txBox="1"/>
          <p:nvPr/>
        </p:nvSpPr>
        <p:spPr>
          <a:xfrm>
            <a:off x="6391656" y="1554480"/>
            <a:ext cx="2194560" cy="457200"/>
          </a:xfrm>
          <a:prstGeom prst="rect">
            <a:avLst/>
          </a:prstGeom>
          <a:noFill/>
          <a:ln/>
        </p:spPr>
        <p:txBody>
          <a:bodyPr wrap="square" lIns="0" tIns="0" rIns="0" bIns="0" rtlCol="0" anchor="ctr"/>
          <a:lstStyle/>
          <a:p>
            <a:pPr indent="0" marL="0">
              <a:buNone/>
            </a:pPr>
            <a:r>
              <a:rPr lang="en-US" sz="1600" b="1" dirty="0">
                <a:solidFill>
                  <a:schemeClr val="accent3"/>
                </a:solidFill>
              </a:rPr>
              <a:t>Empirical buffer (P2)</a:t>
            </a:r>
            <a:endParaRPr lang="en-US" sz="1600" dirty="0"/>
          </a:p>
        </p:txBody>
      </p:sp>
      <p:sp>
        <p:nvSpPr>
          <p:cNvPr id="15" name="Text 13"/>
          <p:cNvSpPr txBox="1"/>
          <p:nvPr/>
        </p:nvSpPr>
        <p:spPr>
          <a:xfrm>
            <a:off x="6391656" y="2057400"/>
            <a:ext cx="2194560" cy="1371600"/>
          </a:xfrm>
          <a:prstGeom prst="rect">
            <a:avLst/>
          </a:prstGeom>
          <a:noFill/>
          <a:ln/>
        </p:spPr>
        <p:txBody>
          <a:bodyPr wrap="square" lIns="0" tIns="0" rIns="0" bIns="0" rtlCol="0" anchor="t"/>
          <a:lstStyle/>
          <a:p>
            <a:pPr indent="0" marL="0">
              <a:buNone/>
            </a:pPr>
            <a:r>
              <a:rPr lang="en-US" sz="1300" dirty="0">
                <a:solidFill>
                  <a:schemeClr val="tx1"/>
                </a:solidFill>
              </a:rPr>
              <a:t>P1 with the buffer taken from the real spread of past errors</a:t>
            </a:r>
            <a:endParaRPr lang="en-US" sz="1300" dirty="0"/>
          </a:p>
        </p:txBody>
      </p:sp>
      <p:sp>
        <p:nvSpPr>
          <p:cNvPr id="16" name="Text 14"/>
          <p:cNvSpPr txBox="1"/>
          <p:nvPr/>
        </p:nvSpPr>
        <p:spPr>
          <a:xfrm>
            <a:off x="6391656" y="3520440"/>
            <a:ext cx="2194560" cy="64008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$595</a:t>
            </a:r>
            <a:endParaRPr lang="en-US" sz="3200" dirty="0"/>
          </a:p>
        </p:txBody>
      </p:sp>
      <p:sp>
        <p:nvSpPr>
          <p:cNvPr id="17" name="Text 15"/>
          <p:cNvSpPr txBox="1"/>
          <p:nvPr/>
        </p:nvSpPr>
        <p:spPr>
          <a:xfrm>
            <a:off x="6391656" y="4160520"/>
            <a:ext cx="2194560" cy="320040"/>
          </a:xfrm>
          <a:prstGeom prst="rect">
            <a:avLst/>
          </a:prstGeom>
          <a:noFill/>
          <a:ln/>
        </p:spPr>
        <p:txBody>
          <a:bodyPr wrap="square" lIns="0" tIns="0" rIns="0" bIns="0" rtlCol="0" anchor="ctr"/>
          <a:lstStyle/>
          <a:p>
            <a:pPr indent="0" marL="0">
              <a:buNone/>
            </a:pPr>
            <a:r>
              <a:rPr lang="en-US" sz="1100" dirty="0">
                <a:solidFill>
                  <a:schemeClr val="accent5"/>
                </a:solidFill>
              </a:rPr>
              <a:t>total cost, 8 products</a:t>
            </a:r>
            <a:endParaRPr lang="en-US" sz="1100" dirty="0"/>
          </a:p>
        </p:txBody>
      </p:sp>
      <p:sp>
        <p:nvSpPr>
          <p:cNvPr id="18" name="policy 4"/>
          <p:cNvSpPr/>
          <p:nvPr/>
        </p:nvSpPr>
        <p:spPr>
          <a:xfrm>
            <a:off x="8970264" y="1371600"/>
            <a:ext cx="2624328" cy="3246120"/>
          </a:xfrm>
          <a:prstGeom prst="roundRect">
            <a:avLst>
              <a:gd name="adj" fmla="val 4181"/>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9" name="Text 17"/>
          <p:cNvSpPr txBox="1"/>
          <p:nvPr/>
        </p:nvSpPr>
        <p:spPr>
          <a:xfrm>
            <a:off x="9198864" y="1554480"/>
            <a:ext cx="2194560" cy="457200"/>
          </a:xfrm>
          <a:prstGeom prst="rect">
            <a:avLst/>
          </a:prstGeom>
          <a:noFill/>
          <a:ln/>
        </p:spPr>
        <p:txBody>
          <a:bodyPr wrap="square" lIns="0" tIns="0" rIns="0" bIns="0" rtlCol="0" anchor="ctr"/>
          <a:lstStyle/>
          <a:p>
            <a:pPr indent="0" marL="0">
              <a:buNone/>
            </a:pPr>
            <a:r>
              <a:rPr lang="en-US" sz="1600" b="1" dirty="0">
                <a:solidFill>
                  <a:schemeClr val="accent5"/>
                </a:solidFill>
              </a:rPr>
              <a:t>Perfect hindsight</a:t>
            </a:r>
            <a:endParaRPr lang="en-US" sz="1600" dirty="0"/>
          </a:p>
        </p:txBody>
      </p:sp>
      <p:sp>
        <p:nvSpPr>
          <p:cNvPr id="20" name="Text 18"/>
          <p:cNvSpPr txBox="1"/>
          <p:nvPr/>
        </p:nvSpPr>
        <p:spPr>
          <a:xfrm>
            <a:off x="9198864" y="2057400"/>
            <a:ext cx="2194560" cy="1371600"/>
          </a:xfrm>
          <a:prstGeom prst="rect">
            <a:avLst/>
          </a:prstGeom>
          <a:noFill/>
          <a:ln/>
        </p:spPr>
        <p:txBody>
          <a:bodyPr wrap="square" lIns="0" tIns="0" rIns="0" bIns="0" rtlCol="0" anchor="t"/>
          <a:lstStyle/>
          <a:p>
            <a:pPr indent="0" marL="0">
              <a:buNone/>
            </a:pPr>
            <a:r>
              <a:rPr lang="en-US" sz="1300" dirty="0">
                <a:solidFill>
                  <a:schemeClr val="tx1"/>
                </a:solidFill>
              </a:rPr>
              <a:t>Uses actual future sales (upper bound on what forecasting can deliver)</a:t>
            </a:r>
            <a:endParaRPr lang="en-US" sz="1300" dirty="0"/>
          </a:p>
        </p:txBody>
      </p:sp>
      <p:sp>
        <p:nvSpPr>
          <p:cNvPr id="21" name="Text 19"/>
          <p:cNvSpPr txBox="1"/>
          <p:nvPr/>
        </p:nvSpPr>
        <p:spPr>
          <a:xfrm>
            <a:off x="9198864" y="3520440"/>
            <a:ext cx="2194560" cy="64008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$595</a:t>
            </a:r>
            <a:endParaRPr lang="en-US" sz="3200" dirty="0"/>
          </a:p>
        </p:txBody>
      </p:sp>
      <p:sp>
        <p:nvSpPr>
          <p:cNvPr id="22" name="Text 20"/>
          <p:cNvSpPr txBox="1"/>
          <p:nvPr/>
        </p:nvSpPr>
        <p:spPr>
          <a:xfrm>
            <a:off x="9198864" y="4160520"/>
            <a:ext cx="2194560" cy="320040"/>
          </a:xfrm>
          <a:prstGeom prst="rect">
            <a:avLst/>
          </a:prstGeom>
          <a:noFill/>
          <a:ln/>
        </p:spPr>
        <p:txBody>
          <a:bodyPr wrap="square" lIns="0" tIns="0" rIns="0" bIns="0" rtlCol="0" anchor="ctr"/>
          <a:lstStyle/>
          <a:p>
            <a:pPr indent="0" marL="0">
              <a:buNone/>
            </a:pPr>
            <a:r>
              <a:rPr lang="en-US" sz="1100" dirty="0">
                <a:solidFill>
                  <a:schemeClr val="accent5"/>
                </a:solidFill>
              </a:rPr>
              <a:t>total cost, 8 products</a:t>
            </a:r>
            <a:endParaRPr lang="en-US" sz="1100" dirty="0"/>
          </a:p>
        </p:txBody>
      </p:sp>
      <p:sp>
        <p:nvSpPr>
          <p:cNvPr id="23" name="Text 21"/>
          <p:cNvSpPr txBox="1"/>
          <p:nvPr/>
        </p:nvSpPr>
        <p:spPr>
          <a:xfrm>
            <a:off x="548640" y="4846320"/>
            <a:ext cx="11094415"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Replay of 3 Jan – 24 Apr 2016: same real sales and opening stock for every policy, daily review, lost sales</a:t>
            </a:r>
            <a:endParaRPr lang="en-US" sz="1400" dirty="0"/>
          </a:p>
          <a:p>
            <a:pPr marL="342900" indent="-342900">
              <a:spcAft>
                <a:spcPts val="800"/>
              </a:spcAft>
              <a:buSzPct val="100000"/>
              <a:buChar char="•"/>
            </a:pPr>
            <a:r>
              <a:rPr lang="en-US" sz="1400" dirty="0">
                <a:solidFill>
                  <a:schemeClr val="tx1"/>
                </a:solidFill>
              </a:rPr>
              <a:t>Hypothetical: 4-day lead time, 95% service target, holding 25%/yr, missed-sale penalty 50% of price, $5 per order</a:t>
            </a:r>
            <a:endParaRPr lang="en-US" sz="1400" dirty="0"/>
          </a:p>
          <a:p>
            <a:pPr marL="342900" indent="-342900">
              <a:spcAft>
                <a:spcPts val="800"/>
              </a:spcAft>
              <a:buSzPct val="100000"/>
              <a:buChar char="•"/>
            </a:pPr>
            <a:r>
              <a:rPr lang="en-US" sz="1400" dirty="0">
                <a:solidFill>
                  <a:schemeClr val="tx1"/>
                </a:solidFill>
              </a:rPr>
              <a:t>Forecast-driven plan: 11% cheaper, 4% less stock, fewer missed sales (44 vs 49 units)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Where forecasting helps, and where it doesn't</a:t>
            </a:r>
            <a:endParaRPr lang="en-US" sz="3200" dirty="0"/>
          </a:p>
        </p:txBody>
      </p:sp>
      <p:pic>
        <p:nvPicPr>
          <p:cNvPr id="3" name="frontier chart" descr="C:\Users\sanya\OptiChain\reports\figures\final\frontier.png">    </p:cNvPr>
          <p:cNvPicPr>
            <a:picLocks noChangeAspect="1"/>
          </p:cNvPicPr>
          <p:nvPr/>
        </p:nvPicPr>
        <p:blipFill>
          <a:blip r:embed="rId1"/>
          <a:srcRect l="0" r="0" t="0" b="0"/>
          <a:stretch/>
        </p:blipFill>
        <p:spPr>
          <a:xfrm>
            <a:off x="548640" y="1234440"/>
            <a:ext cx="8138160" cy="3794760"/>
          </a:xfrm>
          <a:prstGeom prst="rect">
            <a:avLst/>
          </a:prstGeom>
        </p:spPr>
      </p:pic>
      <p:sp>
        <p:nvSpPr>
          <p:cNvPr id="4" name="frontier notes"/>
          <p:cNvSpPr/>
          <p:nvPr/>
        </p:nvSpPr>
        <p:spPr>
          <a:xfrm>
            <a:off x="8915400" y="1280160"/>
            <a:ext cx="2743200" cy="420624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5" name="Text 2"/>
          <p:cNvSpPr txBox="1"/>
          <p:nvPr/>
        </p:nvSpPr>
        <p:spPr>
          <a:xfrm>
            <a:off x="9098280" y="1463040"/>
            <a:ext cx="2423160" cy="39319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Up and left = more service from less stock</a:t>
            </a:r>
            <a:endParaRPr lang="en-US" sz="1300" dirty="0"/>
          </a:p>
          <a:p>
            <a:pPr marL="342900" indent="-342900">
              <a:spcAft>
                <a:spcPts val="800"/>
              </a:spcAft>
              <a:buSzPct val="100000"/>
              <a:buChar char="•"/>
            </a:pPr>
            <a:r>
              <a:rPr lang="en-US" sz="1300" dirty="0">
                <a:solidFill>
                  <a:schemeClr val="tx1"/>
                </a:solidFill>
              </a:rPr>
              <a:t>Forecasting wins for steady and some slow movers</a:t>
            </a:r>
            <a:endParaRPr lang="en-US" sz="1300" dirty="0"/>
          </a:p>
          <a:p>
            <a:pPr marL="342900" indent="-342900">
              <a:spcAft>
                <a:spcPts val="800"/>
              </a:spcAft>
              <a:buSzPct val="100000"/>
              <a:buChar char="•"/>
            </a:pPr>
            <a:r>
              <a:rPr lang="en-US" sz="1300" dirty="0">
                <a:solidFill>
                  <a:schemeClr val="tx1"/>
                </a:solidFill>
              </a:rPr>
              <a:t>The simple rule is more efficient for FOODS_3_203 and spiky HOBBIES_1_189</a:t>
            </a:r>
            <a:endParaRPr lang="en-US" sz="1300" dirty="0"/>
          </a:p>
          <a:p>
            <a:pPr marL="342900" indent="-342900">
              <a:spcAft>
                <a:spcPts val="800"/>
              </a:spcAft>
              <a:buSzPct val="100000"/>
              <a:buChar char="•"/>
            </a:pPr>
            <a:r>
              <a:rPr lang="en-US" sz="1300" dirty="0">
                <a:solidFill>
                  <a:schemeClr val="tx1"/>
                </a:solidFill>
              </a:rPr>
              <a:t>Short window: few stockouts, so small gaps are noise</a:t>
            </a:r>
            <a:endParaRPr lang="en-US" sz="1300" dirty="0"/>
          </a:p>
        </p:txBody>
      </p:sp>
      <p:sp>
        <p:nvSpPr>
          <p:cNvPr id="6" name="Text 3"/>
          <p:cNvSpPr txBox="1"/>
          <p:nvPr/>
        </p:nvSpPr>
        <p:spPr>
          <a:xfrm>
            <a:off x="548640" y="5074920"/>
            <a:ext cx="8138160" cy="320040"/>
          </a:xfrm>
          <a:prstGeom prst="rect">
            <a:avLst/>
          </a:prstGeom>
          <a:noFill/>
          <a:ln/>
        </p:spPr>
        <p:txBody>
          <a:bodyPr wrap="square" lIns="0" tIns="0" rIns="0" bIns="0" rtlCol="0" anchor="ctr"/>
          <a:lstStyle/>
          <a:p>
            <a:pPr indent="0" marL="0">
              <a:buNone/>
            </a:pPr>
            <a:r>
              <a:rPr lang="en-US" sz="1100" i="1" dirty="0">
                <a:solidFill>
                  <a:schemeClr val="accent5"/>
                </a:solidFill>
              </a:rPr>
              <a:t>Each point = one service target (80–99%); lead time 4 days</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Savings hold in 8 of 9 scenarios, but they vary</a:t>
            </a:r>
            <a:endParaRPr lang="en-US" sz="3200" dirty="0"/>
          </a:p>
        </p:txBody>
      </p:sp>
      <p:pic>
        <p:nvPicPr>
          <p:cNvPr id="3" name="sensitivity heatmap" descr="C:\Users\sanya\OptiChain\reports\figures\final\sensitivity.png">    </p:cNvPr>
          <p:cNvPicPr>
            <a:picLocks noChangeAspect="1"/>
          </p:cNvPicPr>
          <p:nvPr/>
        </p:nvPicPr>
        <p:blipFill>
          <a:blip r:embed="rId1"/>
          <a:srcRect l="0" r="0" t="0" b="0"/>
          <a:stretch/>
        </p:blipFill>
        <p:spPr>
          <a:xfrm>
            <a:off x="548640" y="1280160"/>
            <a:ext cx="6949440" cy="2331720"/>
          </a:xfrm>
          <a:prstGeom prst="rect">
            <a:avLst/>
          </a:prstGeom>
        </p:spPr>
      </p:pic>
      <p:sp>
        <p:nvSpPr>
          <p:cNvPr id="4" name="Text 1"/>
          <p:cNvSpPr txBox="1"/>
          <p:nvPr/>
        </p:nvSpPr>
        <p:spPr>
          <a:xfrm>
            <a:off x="548640" y="3657600"/>
            <a:ext cx="6949440" cy="320040"/>
          </a:xfrm>
          <a:prstGeom prst="rect">
            <a:avLst/>
          </a:prstGeom>
          <a:noFill/>
          <a:ln/>
        </p:spPr>
        <p:txBody>
          <a:bodyPr wrap="square" lIns="0" tIns="0" rIns="0" bIns="0" rtlCol="0" anchor="ctr"/>
          <a:lstStyle/>
          <a:p>
            <a:pPr indent="0" marL="0">
              <a:buNone/>
            </a:pPr>
            <a:r>
              <a:rPr lang="en-US" sz="1100" i="1" dirty="0">
                <a:solidFill>
                  <a:schemeClr val="accent5"/>
                </a:solidFill>
              </a:rPr>
              <a:t>Total-cost change vs simple rule across lead time × service target (blue = cheaper)</a:t>
            </a:r>
            <a:endParaRPr lang="en-US" sz="1100" dirty="0"/>
          </a:p>
        </p:txBody>
      </p:sp>
      <p:sp>
        <p:nvSpPr>
          <p:cNvPr id="5" name="Text 2"/>
          <p:cNvSpPr txBox="1"/>
          <p:nvPr/>
        </p:nvSpPr>
        <p:spPr>
          <a:xfrm>
            <a:off x="548640" y="4114800"/>
            <a:ext cx="3108960" cy="73152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3–11%</a:t>
            </a:r>
            <a:endParaRPr lang="en-US" sz="3600" dirty="0"/>
          </a:p>
        </p:txBody>
      </p:sp>
      <p:sp>
        <p:nvSpPr>
          <p:cNvPr id="6" name="Text 3"/>
          <p:cNvSpPr txBox="1"/>
          <p:nvPr/>
        </p:nvSpPr>
        <p:spPr>
          <a:xfrm>
            <a:off x="548640" y="4892040"/>
            <a:ext cx="3108960" cy="685800"/>
          </a:xfrm>
          <a:prstGeom prst="rect">
            <a:avLst/>
          </a:prstGeom>
          <a:noFill/>
          <a:ln/>
        </p:spPr>
        <p:txBody>
          <a:bodyPr wrap="square" lIns="0" tIns="0" rIns="0" bIns="0" rtlCol="0" anchor="t"/>
          <a:lstStyle/>
          <a:p>
            <a:pPr indent="0" marL="0">
              <a:buNone/>
            </a:pPr>
            <a:r>
              <a:rPr lang="en-US" sz="1400" dirty="0">
                <a:solidFill>
                  <a:schemeClr val="tx1"/>
                </a:solidFill>
              </a:rPr>
              <a:t>cheaper than the simple rule; the default scenario is the best case</a:t>
            </a:r>
            <a:endParaRPr lang="en-US" sz="1400" dirty="0"/>
          </a:p>
        </p:txBody>
      </p:sp>
      <p:sp>
        <p:nvSpPr>
          <p:cNvPr id="7" name="Text 4"/>
          <p:cNvSpPr txBox="1"/>
          <p:nvPr/>
        </p:nvSpPr>
        <p:spPr>
          <a:xfrm>
            <a:off x="3931920" y="4114800"/>
            <a:ext cx="3291840" cy="73152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+18–26%</a:t>
            </a:r>
            <a:endParaRPr lang="en-US" sz="3600" dirty="0"/>
          </a:p>
        </p:txBody>
      </p:sp>
      <p:sp>
        <p:nvSpPr>
          <p:cNvPr id="8" name="Text 5"/>
          <p:cNvSpPr txBox="1"/>
          <p:nvPr/>
        </p:nvSpPr>
        <p:spPr>
          <a:xfrm>
            <a:off x="3931920" y="4892040"/>
            <a:ext cx="3291840" cy="685800"/>
          </a:xfrm>
          <a:prstGeom prst="rect">
            <a:avLst/>
          </a:prstGeom>
          <a:noFill/>
          <a:ln/>
        </p:spPr>
        <p:txBody>
          <a:bodyPr wrap="square" lIns="0" tIns="0" rIns="0" bIns="0" rtlCol="0" anchor="t"/>
          <a:lstStyle/>
          <a:p>
            <a:pPr indent="0" marL="0">
              <a:buNone/>
            </a:pPr>
            <a:r>
              <a:rPr lang="en-US" sz="1400" dirty="0">
                <a:solidFill>
                  <a:schemeClr val="tx1"/>
                </a:solidFill>
              </a:rPr>
              <a:t>how much real errors exceeded the in-sample estimate for 4 products</a:t>
            </a:r>
            <a:endParaRPr lang="en-US" sz="1400" dirty="0"/>
          </a:p>
        </p:txBody>
      </p:sp>
      <p:sp>
        <p:nvSpPr>
          <p:cNvPr id="9" name="key finding"/>
          <p:cNvSpPr/>
          <p:nvPr/>
        </p:nvSpPr>
        <p:spPr>
          <a:xfrm>
            <a:off x="7863840" y="1325880"/>
            <a:ext cx="3794760" cy="4526280"/>
          </a:xfrm>
          <a:prstGeom prst="roundRect">
            <a:avLst>
              <a:gd name="adj" fmla="val 2892"/>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10" name="Text 7"/>
          <p:cNvSpPr txBox="1"/>
          <p:nvPr/>
        </p:nvSpPr>
        <p:spPr>
          <a:xfrm>
            <a:off x="8092440" y="1554480"/>
            <a:ext cx="3383280" cy="4114800"/>
          </a:xfrm>
          <a:prstGeom prst="rect">
            <a:avLst/>
          </a:prstGeom>
          <a:noFill/>
          <a:ln/>
        </p:spPr>
        <p:txBody>
          <a:bodyPr wrap="square" lIns="0" tIns="0" rIns="0" bIns="0" rtlCol="0" anchor="t"/>
          <a:lstStyle/>
          <a:p>
            <a:pPr indent="0" marL="0">
              <a:buNone/>
            </a:pPr>
            <a:r>
              <a:rPr lang="en-US" sz="1700" b="1" dirty="0">
                <a:solidFill>
                  <a:schemeClr val="tx2"/>
                </a:solidFill>
              </a:rPr>
              <a:t>Key finding
</a:t>
            </a:r>
            <a:pPr indent="0" marL="0">
              <a:buNone/>
            </a:pPr>
            <a:r>
              <a:rPr lang="en-US" sz="1400" dirty="0">
                <a:solidFill>
                  <a:schemeClr val="tx1"/>
                </a:solidFill>
              </a:rPr>
              <a:t>The limit is not the forecast's shape but how its uncertainty is estimated. Buffers use in-sample one-step errors, while decisions use forecasts made weeks earlier.</a:t>
            </a:r>
            <a:endParaRPr lang="en-US" sz="1700" dirty="0"/>
          </a:p>
          <a:p>
            <a:pPr indent="0" marL="0">
              <a:buNone/>
            </a:pPr>
            <a:endParaRPr lang="en-US" sz="1700" dirty="0"/>
          </a:p>
          <a:p>
            <a:pPr indent="0" marL="0">
              <a:buNone/>
            </a:pPr>
            <a:r>
              <a:rPr lang="en-US" sz="1400" dirty="0">
                <a:solidFill>
                  <a:schemeClr val="tx1"/>
                </a:solidFill>
              </a:rPr>
              <a:t>Fix: size buffers from out-of-sample errors and re-forecast daily.</a:t>
            </a:r>
            <a:endParaRPr lang="en-US" sz="17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Pre-registered final test: the results hold on unseen data</a:t>
            </a:r>
            <a:endParaRPr lang="en-US" sz="3200" dirty="0"/>
          </a:p>
        </p:txBody>
      </p:sp>
      <p:pic>
        <p:nvPicPr>
          <p:cNvPr id="3" name="final test chart" descr="C:\Users\sanya\OptiChain\reports\figures\final\final_test.png">    </p:cNvPr>
          <p:cNvPicPr>
            <a:picLocks noChangeAspect="1"/>
          </p:cNvPicPr>
          <p:nvPr/>
        </p:nvPicPr>
        <p:blipFill>
          <a:blip r:embed="rId1"/>
          <a:srcRect l="0" r="0" t="0" b="0"/>
          <a:stretch/>
        </p:blipFill>
        <p:spPr>
          <a:xfrm>
            <a:off x="548640" y="1280160"/>
            <a:ext cx="7498080" cy="2743200"/>
          </a:xfrm>
          <a:prstGeom prst="rect">
            <a:avLst/>
          </a:prstGeom>
        </p:spPr>
      </p:pic>
      <p:sp>
        <p:nvSpPr>
          <p:cNvPr id="4" name="Text 1"/>
          <p:cNvSpPr txBox="1"/>
          <p:nvPr/>
        </p:nvSpPr>
        <p:spPr>
          <a:xfrm>
            <a:off x="548640" y="4069080"/>
            <a:ext cx="7498080" cy="320040"/>
          </a:xfrm>
          <a:prstGeom prst="rect">
            <a:avLst/>
          </a:prstGeom>
          <a:noFill/>
          <a:ln/>
        </p:spPr>
        <p:txBody>
          <a:bodyPr wrap="square" lIns="0" tIns="0" rIns="0" bIns="0" rtlCol="0" anchor="ctr"/>
          <a:lstStyle/>
          <a:p>
            <a:pPr indent="0" marL="0">
              <a:buNone/>
            </a:pPr>
            <a:r>
              <a:rPr lang="en-US" sz="1100" i="1" dirty="0">
                <a:solidFill>
                  <a:schemeClr val="accent5"/>
                </a:solidFill>
              </a:rPr>
              <a:t>Model per product written down before the month (25 Apr – 22 May 2016) was loaded</a:t>
            </a:r>
            <a:endParaRPr lang="en-US" sz="1100" dirty="0"/>
          </a:p>
        </p:txBody>
      </p:sp>
      <p:sp>
        <p:nvSpPr>
          <p:cNvPr id="5" name="Text 2"/>
          <p:cNvSpPr txBox="1"/>
          <p:nvPr/>
        </p:nvSpPr>
        <p:spPr>
          <a:xfrm>
            <a:off x="8412480" y="1325880"/>
            <a:ext cx="3200400" cy="731520"/>
          </a:xfrm>
          <a:prstGeom prst="rect">
            <a:avLst/>
          </a:prstGeom>
          <a:noFill/>
          <a:ln/>
        </p:spPr>
        <p:txBody>
          <a:bodyPr wrap="square" lIns="0" tIns="0" rIns="0" bIns="0" rtlCol="0" anchor="b"/>
          <a:lstStyle/>
          <a:p>
            <a:pPr indent="0" marL="0">
              <a:buNone/>
            </a:pPr>
            <a:r>
              <a:rPr lang="en-US" sz="4000" b="1" dirty="0">
                <a:solidFill>
                  <a:schemeClr val="accent3"/>
                </a:solidFill>
                <a:latin typeface="Cambria" pitchFamily="34" charset="0"/>
                <a:ea typeface="Cambria" pitchFamily="34" charset="-122"/>
                <a:cs typeface="Cambria" pitchFamily="34" charset="-120"/>
              </a:rPr>
              <a:t>0.752</a:t>
            </a:r>
            <a:endParaRPr lang="en-US" sz="4000" dirty="0"/>
          </a:p>
        </p:txBody>
      </p:sp>
      <p:sp>
        <p:nvSpPr>
          <p:cNvPr id="6" name="Text 3"/>
          <p:cNvSpPr txBox="1"/>
          <p:nvPr/>
        </p:nvSpPr>
        <p:spPr>
          <a:xfrm>
            <a:off x="8412480" y="2103120"/>
            <a:ext cx="3200400" cy="685800"/>
          </a:xfrm>
          <a:prstGeom prst="rect">
            <a:avLst/>
          </a:prstGeom>
          <a:noFill/>
          <a:ln/>
        </p:spPr>
        <p:txBody>
          <a:bodyPr wrap="square" lIns="0" tIns="0" rIns="0" bIns="0" rtlCol="0" anchor="t"/>
          <a:lstStyle/>
          <a:p>
            <a:pPr indent="0" marL="0">
              <a:buNone/>
            </a:pPr>
            <a:r>
              <a:rPr lang="en-US" sz="1400" dirty="0">
                <a:solidFill>
                  <a:schemeClr val="tx1"/>
                </a:solidFill>
              </a:rPr>
              <a:t>mean RMSSE on the unseen month (backtest: 0.769)</a:t>
            </a:r>
            <a:endParaRPr lang="en-US" sz="1400" dirty="0"/>
          </a:p>
        </p:txBody>
      </p:sp>
      <p:sp>
        <p:nvSpPr>
          <p:cNvPr id="7" name="Text 4"/>
          <p:cNvSpPr txBox="1"/>
          <p:nvPr/>
        </p:nvSpPr>
        <p:spPr>
          <a:xfrm>
            <a:off x="8412480" y="2926080"/>
            <a:ext cx="3200400" cy="73152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$185 vs $219</a:t>
            </a:r>
            <a:endParaRPr lang="en-US" sz="3000" dirty="0"/>
          </a:p>
        </p:txBody>
      </p:sp>
      <p:sp>
        <p:nvSpPr>
          <p:cNvPr id="8" name="Text 5"/>
          <p:cNvSpPr txBox="1"/>
          <p:nvPr/>
        </p:nvSpPr>
        <p:spPr>
          <a:xfrm>
            <a:off x="8412480" y="3703320"/>
            <a:ext cx="3200400" cy="685800"/>
          </a:xfrm>
          <a:prstGeom prst="rect">
            <a:avLst/>
          </a:prstGeom>
          <a:noFill/>
          <a:ln/>
        </p:spPr>
        <p:txBody>
          <a:bodyPr wrap="square" lIns="0" tIns="0" rIns="0" bIns="0" rtlCol="0" anchor="t"/>
          <a:lstStyle/>
          <a:p>
            <a:pPr indent="0" marL="0">
              <a:buNone/>
            </a:pPr>
            <a:r>
              <a:rPr lang="en-US" sz="1400" dirty="0">
                <a:solidFill>
                  <a:schemeClr val="tx1"/>
                </a:solidFill>
              </a:rPr>
              <a:t>forecast plan vs simple rule, mostly from one product</a:t>
            </a:r>
            <a:endParaRPr lang="en-US" sz="1400" dirty="0"/>
          </a:p>
        </p:txBody>
      </p:sp>
      <p:sp>
        <p:nvSpPr>
          <p:cNvPr id="9" name="Text 6"/>
          <p:cNvSpPr txBox="1"/>
          <p:nvPr/>
        </p:nvSpPr>
        <p:spPr>
          <a:xfrm>
            <a:off x="548640" y="4526280"/>
            <a:ext cx="11094415"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No sign of overfitting; SARIMA and ETS stay jointly best</a:t>
            </a:r>
            <a:endParaRPr lang="en-US" sz="1400" dirty="0"/>
          </a:p>
          <a:p>
            <a:pPr marL="342900" indent="-342900">
              <a:spcAft>
                <a:spcPts val="800"/>
              </a:spcAft>
              <a:buSzPct val="100000"/>
              <a:buChar char="•"/>
            </a:pPr>
            <a:r>
              <a:rPr lang="en-US" sz="1400" dirty="0">
                <a:solidFill>
                  <a:schemeClr val="tx1"/>
                </a:solidFill>
              </a:rPr>
              <a:t>Excluding HOUSEHOLD_1_469, costs are equal but the forecast plan holds about 10% less stock</a:t>
            </a:r>
            <a:endParaRPr lang="en-US" sz="1400" dirty="0"/>
          </a:p>
          <a:p>
            <a:pPr marL="342900" indent="-342900">
              <a:spcAft>
                <a:spcPts val="800"/>
              </a:spcAft>
              <a:buSzPct val="100000"/>
              <a:buChar char="•"/>
            </a:pPr>
            <a:r>
              <a:rPr lang="en-US" sz="1400" dirty="0">
                <a:solidFill>
                  <a:schemeClr val="tx1"/>
                </a:solidFill>
              </a:rPr>
              <a:t>Per-product scores move both ways, a reminder that 4 folds are a small sample</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OptiChain: the results as a six-step dashboard</a:t>
            </a:r>
            <a:endParaRPr lang="en-US" sz="3200" dirty="0"/>
          </a:p>
        </p:txBody>
      </p:sp>
      <p:pic>
        <p:nvPicPr>
          <p:cNvPr id="3" name="dashboard screenshot" descr="C:\Users\sanya\OptiChain\reports\figures\final\dashboard_plan.png">    </p:cNvPr>
          <p:cNvPicPr>
            <a:picLocks noChangeAspect="1"/>
          </p:cNvPicPr>
          <p:nvPr/>
        </p:nvPicPr>
        <p:blipFill>
          <a:blip r:embed="rId1"/>
          <a:srcRect l="0" r="0" t="0" b="0"/>
          <a:stretch/>
        </p:blipFill>
        <p:spPr>
          <a:xfrm>
            <a:off x="548640" y="1280160"/>
            <a:ext cx="6858000" cy="4288536"/>
          </a:xfrm>
          <a:prstGeom prst="rect">
            <a:avLst/>
          </a:prstGeom>
        </p:spPr>
      </p:pic>
      <p:sp>
        <p:nvSpPr>
          <p:cNvPr id="4" name="dashboard steps"/>
          <p:cNvSpPr/>
          <p:nvPr/>
        </p:nvSpPr>
        <p:spPr>
          <a:xfrm>
            <a:off x="7726680" y="1325880"/>
            <a:ext cx="3931920" cy="420624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0F172A">
                <a:alpha val="12000"/>
              </a:srgbClr>
            </a:outerShdw>
          </a:effectLst>
        </p:spPr>
      </p:sp>
      <p:sp>
        <p:nvSpPr>
          <p:cNvPr id="5" name="badge 1"/>
          <p:cNvSpPr/>
          <p:nvPr/>
        </p:nvSpPr>
        <p:spPr>
          <a:xfrm>
            <a:off x="7955280" y="1508760"/>
            <a:ext cx="420624" cy="420624"/>
          </a:xfrm>
          <a:prstGeom prst="ellipse">
            <a:avLst/>
          </a:prstGeom>
          <a:solidFill>
            <a:schemeClr val="accent1"/>
          </a:solidFill>
          <a:ln w="12700">
            <a:solidFill>
              <a:schemeClr val="accent1"/>
            </a:solidFill>
            <a:prstDash val="solid"/>
          </a:ln>
        </p:spPr>
      </p:sp>
      <p:sp>
        <p:nvSpPr>
          <p:cNvPr id="6" name="Text 3"/>
          <p:cNvSpPr txBox="1"/>
          <p:nvPr/>
        </p:nvSpPr>
        <p:spPr>
          <a:xfrm>
            <a:off x="795528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8503920" y="1508760"/>
            <a:ext cx="2926080" cy="420624"/>
          </a:xfrm>
          <a:prstGeom prst="rect">
            <a:avLst/>
          </a:prstGeom>
          <a:noFill/>
          <a:ln/>
        </p:spPr>
        <p:txBody>
          <a:bodyPr wrap="square" lIns="0" tIns="0" rIns="0" bIns="0" rtlCol="0" anchor="ctr"/>
          <a:lstStyle/>
          <a:p>
            <a:pPr indent="0" marL="0">
              <a:buNone/>
            </a:pPr>
            <a:r>
              <a:rPr lang="en-US" sz="1500" dirty="0">
                <a:solidFill>
                  <a:schemeClr val="tx2"/>
                </a:solidFill>
              </a:rPr>
              <a:t>Overview</a:t>
            </a:r>
            <a:endParaRPr lang="en-US" sz="1500" dirty="0"/>
          </a:p>
        </p:txBody>
      </p:sp>
      <p:sp>
        <p:nvSpPr>
          <p:cNvPr id="8" name="badge 2"/>
          <p:cNvSpPr/>
          <p:nvPr/>
        </p:nvSpPr>
        <p:spPr>
          <a:xfrm>
            <a:off x="7955280" y="2148840"/>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955280" y="21488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8503920" y="2148840"/>
            <a:ext cx="2926080" cy="420624"/>
          </a:xfrm>
          <a:prstGeom prst="rect">
            <a:avLst/>
          </a:prstGeom>
          <a:noFill/>
          <a:ln/>
        </p:spPr>
        <p:txBody>
          <a:bodyPr wrap="square" lIns="0" tIns="0" rIns="0" bIns="0" rtlCol="0" anchor="ctr"/>
          <a:lstStyle/>
          <a:p>
            <a:pPr indent="0" marL="0">
              <a:buNone/>
            </a:pPr>
            <a:r>
              <a:rPr lang="en-US" sz="1500" dirty="0">
                <a:solidFill>
                  <a:schemeClr val="tx2"/>
                </a:solidFill>
              </a:rPr>
              <a:t>Understand demand</a:t>
            </a:r>
            <a:endParaRPr lang="en-US" sz="1500" dirty="0"/>
          </a:p>
        </p:txBody>
      </p:sp>
      <p:sp>
        <p:nvSpPr>
          <p:cNvPr id="11" name="badge 3"/>
          <p:cNvSpPr/>
          <p:nvPr/>
        </p:nvSpPr>
        <p:spPr>
          <a:xfrm>
            <a:off x="7955280" y="2788920"/>
            <a:ext cx="420624" cy="420624"/>
          </a:xfrm>
          <a:prstGeom prst="ellipse">
            <a:avLst/>
          </a:prstGeom>
          <a:solidFill>
            <a:schemeClr val="accent1"/>
          </a:solidFill>
          <a:ln w="12700">
            <a:solidFill>
              <a:schemeClr val="accent1"/>
            </a:solidFill>
            <a:prstDash val="solid"/>
          </a:ln>
        </p:spPr>
      </p:sp>
      <p:sp>
        <p:nvSpPr>
          <p:cNvPr id="12" name="Text 9"/>
          <p:cNvSpPr txBox="1"/>
          <p:nvPr/>
        </p:nvSpPr>
        <p:spPr>
          <a:xfrm>
            <a:off x="7955280" y="27889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8503920" y="2788920"/>
            <a:ext cx="2926080" cy="420624"/>
          </a:xfrm>
          <a:prstGeom prst="rect">
            <a:avLst/>
          </a:prstGeom>
          <a:noFill/>
          <a:ln/>
        </p:spPr>
        <p:txBody>
          <a:bodyPr wrap="square" lIns="0" tIns="0" rIns="0" bIns="0" rtlCol="0" anchor="ctr"/>
          <a:lstStyle/>
          <a:p>
            <a:pPr indent="0" marL="0">
              <a:buNone/>
            </a:pPr>
            <a:r>
              <a:rPr lang="en-US" sz="1500" dirty="0">
                <a:solidFill>
                  <a:schemeClr val="tx2"/>
                </a:solidFill>
              </a:rPr>
              <a:t>Predict</a:t>
            </a:r>
            <a:endParaRPr lang="en-US" sz="1500" dirty="0"/>
          </a:p>
        </p:txBody>
      </p:sp>
      <p:sp>
        <p:nvSpPr>
          <p:cNvPr id="14" name="badge 4"/>
          <p:cNvSpPr/>
          <p:nvPr/>
        </p:nvSpPr>
        <p:spPr>
          <a:xfrm>
            <a:off x="7955280" y="3429000"/>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955280" y="34290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3"/>
          <p:cNvSpPr txBox="1"/>
          <p:nvPr/>
        </p:nvSpPr>
        <p:spPr>
          <a:xfrm>
            <a:off x="8503920" y="3429000"/>
            <a:ext cx="2926080" cy="420624"/>
          </a:xfrm>
          <a:prstGeom prst="rect">
            <a:avLst/>
          </a:prstGeom>
          <a:noFill/>
          <a:ln/>
        </p:spPr>
        <p:txBody>
          <a:bodyPr wrap="square" lIns="0" tIns="0" rIns="0" bIns="0" rtlCol="0" anchor="ctr"/>
          <a:lstStyle/>
          <a:p>
            <a:pPr indent="0" marL="0">
              <a:buNone/>
            </a:pPr>
            <a:r>
              <a:rPr lang="en-US" sz="1500" dirty="0">
                <a:solidFill>
                  <a:schemeClr val="tx2"/>
                </a:solidFill>
              </a:rPr>
              <a:t>Model check</a:t>
            </a:r>
            <a:endParaRPr lang="en-US" sz="1500" dirty="0"/>
          </a:p>
        </p:txBody>
      </p:sp>
      <p:sp>
        <p:nvSpPr>
          <p:cNvPr id="17" name="badge 5"/>
          <p:cNvSpPr/>
          <p:nvPr/>
        </p:nvSpPr>
        <p:spPr>
          <a:xfrm>
            <a:off x="7955280" y="4069080"/>
            <a:ext cx="420624" cy="420624"/>
          </a:xfrm>
          <a:prstGeom prst="ellipse">
            <a:avLst/>
          </a:prstGeom>
          <a:solidFill>
            <a:schemeClr val="accent2"/>
          </a:solidFill>
          <a:ln w="12700">
            <a:solidFill>
              <a:schemeClr val="accent2"/>
            </a:solidFill>
            <a:prstDash val="solid"/>
          </a:ln>
        </p:spPr>
      </p:sp>
      <p:sp>
        <p:nvSpPr>
          <p:cNvPr id="18" name="Text 15"/>
          <p:cNvSpPr txBox="1"/>
          <p:nvPr/>
        </p:nvSpPr>
        <p:spPr>
          <a:xfrm>
            <a:off x="7955280" y="4069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6"/>
          <p:cNvSpPr txBox="1"/>
          <p:nvPr/>
        </p:nvSpPr>
        <p:spPr>
          <a:xfrm>
            <a:off x="8503920" y="4069080"/>
            <a:ext cx="2926080" cy="420624"/>
          </a:xfrm>
          <a:prstGeom prst="rect">
            <a:avLst/>
          </a:prstGeom>
          <a:noFill/>
          <a:ln/>
        </p:spPr>
        <p:txBody>
          <a:bodyPr wrap="square" lIns="0" tIns="0" rIns="0" bIns="0" rtlCol="0" anchor="ctr"/>
          <a:lstStyle/>
          <a:p>
            <a:pPr indent="0" marL="0">
              <a:buNone/>
            </a:pPr>
            <a:r>
              <a:rPr lang="en-US" sz="1500" b="1" dirty="0">
                <a:solidFill>
                  <a:schemeClr val="tx2"/>
                </a:solidFill>
              </a:rPr>
              <a:t>Plan stock</a:t>
            </a:r>
            <a:endParaRPr lang="en-US" sz="1500" dirty="0"/>
          </a:p>
        </p:txBody>
      </p:sp>
      <p:sp>
        <p:nvSpPr>
          <p:cNvPr id="20" name="badge 6"/>
          <p:cNvSpPr/>
          <p:nvPr/>
        </p:nvSpPr>
        <p:spPr>
          <a:xfrm>
            <a:off x="7955280" y="4709160"/>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7955280" y="47091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2" name="Text 19"/>
          <p:cNvSpPr txBox="1"/>
          <p:nvPr/>
        </p:nvSpPr>
        <p:spPr>
          <a:xfrm>
            <a:off x="8503920" y="4709160"/>
            <a:ext cx="2926080" cy="420624"/>
          </a:xfrm>
          <a:prstGeom prst="rect">
            <a:avLst/>
          </a:prstGeom>
          <a:noFill/>
          <a:ln/>
        </p:spPr>
        <p:txBody>
          <a:bodyPr wrap="square" lIns="0" tIns="0" rIns="0" bIns="0" rtlCol="0" anchor="ctr"/>
          <a:lstStyle/>
          <a:p>
            <a:pPr indent="0" marL="0">
              <a:buNone/>
            </a:pPr>
            <a:r>
              <a:rPr lang="en-US" sz="1500" dirty="0">
                <a:solidFill>
                  <a:schemeClr val="tx2"/>
                </a:solidFill>
              </a:rPr>
              <a:t>Report</a:t>
            </a:r>
            <a:endParaRPr lang="en-US" sz="1500" dirty="0"/>
          </a:p>
        </p:txBody>
      </p:sp>
      <p:sp>
        <p:nvSpPr>
          <p:cNvPr id="23" name="Text 20"/>
          <p:cNvSpPr txBox="1"/>
          <p:nvPr/>
        </p:nvSpPr>
        <p:spPr>
          <a:xfrm>
            <a:off x="548640" y="5623560"/>
            <a:ext cx="10972800" cy="320040"/>
          </a:xfrm>
          <a:prstGeom prst="rect">
            <a:avLst/>
          </a:prstGeom>
          <a:noFill/>
          <a:ln/>
        </p:spPr>
        <p:txBody>
          <a:bodyPr wrap="square" lIns="0" tIns="0" rIns="0" bIns="0" rtlCol="0" anchor="ctr"/>
          <a:lstStyle/>
          <a:p>
            <a:pPr indent="0" marL="0">
              <a:buNone/>
            </a:pPr>
            <a:r>
              <a:rPr lang="en-US" sz="1100" i="1" dirty="0">
                <a:solidFill>
                  <a:schemeClr val="accent5"/>
                </a:solidFill>
              </a:rPr>
              <a:t>Plain-language labels, live what-if sliders, analyst detail on demand; ready for Streamlit Cloud</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Better forecasts help, and better uncertainty estimates would help more</a:t>
            </a:r>
            <a:endParaRPr lang="en-US" sz="4000" dirty="0"/>
          </a:p>
        </p:txBody>
      </p:sp>
      <p:sp>
        <p:nvSpPr>
          <p:cNvPr id="3" name="Text 0"/>
          <p:cNvSpPr/>
          <p:nvPr>
            <p:ph idx="101" type="body" hasCustomPrompt="1"/>
          </p:nvPr>
        </p:nvSpPr>
        <p:spPr>
          <a:xfrm>
            <a:off x="548640" y="3611880"/>
            <a:ext cx="11094415" cy="27432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accent4"/>
                </a:solidFill>
                <a:latin typeface="Calibri" pitchFamily="34" charset="0"/>
                <a:ea typeface="Calibri" pitchFamily="34" charset="-122"/>
                <a:cs typeface="Calibri" pitchFamily="34" charset="-120"/>
              </a:rPr>
              <a:t>ETS and SARIMA forecast about 21% better than seasonal naive, confirmed on an unseen month</a:t>
            </a:r>
            <a:endParaRPr lang="en-US" sz="1800" dirty="0"/>
          </a:p>
          <a:p>
            <a:pPr marL="342900" indent="-342900">
              <a:spcAft>
                <a:spcPts val="600"/>
              </a:spcAft>
              <a:buSzPct val="100000"/>
              <a:buChar char="•"/>
            </a:pPr>
            <a:r>
              <a:rPr lang="en-US" sz="1800" dirty="0">
                <a:solidFill>
                  <a:schemeClr val="accent4"/>
                </a:solidFill>
                <a:latin typeface="Calibri" pitchFamily="34" charset="0"/>
                <a:ea typeface="Calibri" pitchFamily="34" charset="-122"/>
                <a:cs typeface="Calibri" pitchFamily="34" charset="-120"/>
              </a:rPr>
              <a:t>Forecast-driven reordering is cheaper in 8 of 9 scenarios (3–11%), but not for every product</a:t>
            </a:r>
            <a:endParaRPr lang="en-US" sz="1800" dirty="0"/>
          </a:p>
          <a:p>
            <a:pPr marL="342900" indent="-342900">
              <a:spcAft>
                <a:spcPts val="600"/>
              </a:spcAft>
              <a:buSzPct val="100000"/>
              <a:buChar char="•"/>
            </a:pPr>
            <a:r>
              <a:rPr lang="en-US" sz="1800" dirty="0">
                <a:solidFill>
                  <a:schemeClr val="accent4"/>
                </a:solidFill>
                <a:latin typeface="Calibri" pitchFamily="34" charset="0"/>
                <a:ea typeface="Calibri" pitchFamily="34" charset="-122"/>
                <a:cs typeface="Calibri" pitchFamily="34" charset="-120"/>
              </a:rPr>
              <a:t>GARCH not needed; heavy-tailed errors and error estimation matter more</a:t>
            </a:r>
            <a:endParaRPr lang="en-US" sz="1800" dirty="0"/>
          </a:p>
          <a:p>
            <a:pPr marL="342900" indent="-342900">
              <a:spcAft>
                <a:spcPts val="600"/>
              </a:spcAft>
              <a:buSzPct val="100000"/>
              <a:buChar char="•"/>
            </a:pPr>
            <a:r>
              <a:rPr lang="en-US" sz="1800" dirty="0">
                <a:solidFill>
                  <a:schemeClr val="accent4"/>
                </a:solidFill>
                <a:latin typeface="Calibri" pitchFamily="34" charset="0"/>
                <a:ea typeface="Calibri" pitchFamily="34" charset="-122"/>
                <a:cs typeface="Calibri" pitchFamily="34" charset="-120"/>
              </a:rPr>
              <a:t>Next: out-of-sample error buffers, daily re-forecasting, cost-optimal service targets, more products</a:t>
            </a:r>
            <a:endParaRPr lang="en-US" sz="1800" dirty="0"/>
          </a:p>
        </p:txBody>
      </p:sp>
    </p:spTree>
  </p:cSld>
  <p:clrMapOvr>
    <a:masterClrMapping/>
  </p:clrMapOvr>
</p:sld>
</file>

<file path=ppt/theme/theme1.xml><?xml version="1.0" encoding="utf-8"?>
<a:theme xmlns:a="http://schemas.openxmlformats.org/drawingml/2006/main" name="OptiChain">
  <a:themeElements>
    <a:clrScheme name="OptiChain">
      <a:dk1>
        <a:srgbClr val="0F172A"/>
      </a:dk1>
      <a:lt1>
        <a:srgbClr val="FFFFFF"/>
      </a:lt1>
      <a:dk2>
        <a:srgbClr val="1E2761"/>
      </a:dk2>
      <a:lt2>
        <a:srgbClr val="EEF2F8"/>
      </a:lt2>
      <a:accent1>
        <a:srgbClr val="2A78D6"/>
      </a:accent1>
      <a:accent2>
        <a:srgbClr val="EB6834"/>
      </a:accent2>
      <a:accent3>
        <a:srgbClr val="1BAF7A"/>
      </a:accent3>
      <a:accent4>
        <a:srgbClr val="CADCFC"/>
      </a:accent4>
      <a:accent5>
        <a:srgbClr val="64748B"/>
      </a:accent5>
      <a:accent6>
        <a:srgbClr val="F2B134"/>
      </a:accent6>
      <a:hlink>
        <a:srgbClr val="2A78D6"/>
      </a:hlink>
      <a:folHlink>
        <a:srgbClr val="6D28D9"/>
      </a:folHlink>
    </a:clrScheme>
    <a:fontScheme name="OptiCh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Forecasting for Supply Chain Inventory Optimization</dc:title>
  <dc:subject>Walmart M5 · OptiChain</dc:subject>
  <dc:creator>OptiChain</dc:creator>
  <cp:lastModifiedBy>OptiChain</cp:lastModifiedBy>
  <cp:revision>1</cp:revision>
  <dcterms:created xsi:type="dcterms:W3CDTF">2026-10-10T05:33:49Z</dcterms:created>
  <dcterms:modified xsi:type="dcterms:W3CDTF">2026-10-10T05:33:49Z</dcterms:modified>
</cp:coreProperties>
</file>